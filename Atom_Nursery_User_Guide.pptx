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สวัสดีค่ะ วันนี้จะแนะนำระบบบริหารจัดการโรงเรียน Atom Nursery คู่มือฉบับนี้ครอบคลุมการใช้งานสำหรับ 4 บทบาท คือ ผู้ปกครอง คุณครู หัวหน้าครู และผู้ดูแลระบบ ใช้เวลาประมาณ 30 นาที ระบบทั้งหมดใช้งานผ่าน LINE บนมือถือ ไม่ต้องติดตั้งแอปเพิ่ม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นี่คือหัวข้อทั้ง 6 ส่วนที่เราจะพูดถึง เริ่มจากภาพรวมและแนวคิด แล้วเจาะแต่ละบทบาททีละกลุ่ม ปิดท้ายด้วยความปลอดภัยข้อมูลและเคล็ดลับ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ระบบนี้รวมทุกงานของโรงเรียนไว้ในแอปเดียว เข้าผ่าน LINE ข้อมูลอยู่บนคลาวด์ของ Google สำรองทุกวัน และรองรับ 4 บทบาท แต่ละคนเห็นเฉพาะเมนูของตัวเอง แทนที่สมุดกระดาษ ไลน์กลุ่ม และไฟล์ Excel เดิม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แนวคิดหลักมี 4 ข้อ หนึ่ง ลดงานซ้ำ ครูกรอกครั้งเดียวผู้ปกครองเห็นทันที สอง โปร่งใส ทุกอย่างมีหลักฐานย้อนหลัง สาม สื่อสารเรียลไทม์ผ่าน LINE และสี่ ปกป้องข้อมูลเด็กตามหลัก PDPA แต่ละครอบครัวเห็นเฉพาะข้อมูลของตน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การเข้าสู่ระบบง่ายมาก เปิดลิงก์ผ่าน LINE กดเข้าสู่ระบบ ระบบจะจดจำบทบาทให้อัตโนมัติ ครูใหม่แค่แจ้ง LINE ID ให้แอดมินผูกบัญชีครั้งเดียว ทางขวาคือ 4 บทบาทและสิ่งที่แต่ละคนทำได้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ผู้ปกครองลงทะเบียนครั้งแรกด้วยการถ่ายรูปยืนยันตัวตนและยอมรับ PDPA จากนั้นเพิ่มบุตรหลานด้วยเลขบัตร หรือเชื่อมกับเด็กที่พ่อหรือแม่อีกคนลงไว้แล้ว รองรับผู้ปกครองหลายคนต่อเด็กหนึ่งคน และกำหนดผู้รับได้ถึง 4 คน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การเช็คอินใช้ GPS ตรวจว่าผู้ปกครองอยู่ในรัศมีโรงเรียนจริง ปุ่มใหญ่กดง่าย ครูได้รับแจ้งเตือนเมื่อเด็กมาถึงหรือกลับ ถ้ามารับช้าเกินเวลาบวกช่วงผ่อนผัน ระบบคิดค่าดูแลเพิ่มเป็นรายชั่วโมง จ่ายผ่าน QR ได้ทันทีหรือรวมในบิลเดือน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ทุกวันครูจะบันทึกสมุดรายงาน อารมณ์ อาหาร การนอน กิจกรรม ผู้ปกครองได้รับแจ้งเตือนทันที นอกจากนี้ยังมีการประเมินพัฒนาการ DSPM ตามช่วงวัย กราฟน้ำหนักส่วนสูงเทียบเกณฑ์ WHO และสมุดวัคซีนที่บันทึกได้หลายเข็ม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บิลรายเดือนคิดจากแพ็กเกจ บวก OT และค่าใช้จ่ายเพิ่ม จ่ายล่วงหน้าได้รับส่วนลด ผู้ปกครองสแกน QR หรือแนบสลิป ระบบอ่านยอดและตรวจสอบกับ SlipOK จ่ายบางส่วนได้ แอดมินยืนยันทุกสลิปก่อน แล้วพิมพ์ใบเสร็จได้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ผู้ปกครองดูปฏิทินเวลาเข้าออก วันหยุด และวัน Big Cleaning กรอกข้อมูลประกัน PCHI ครั้งเดียว และแก้ไขข้อมูลส่วนตัวของตนเอง รวมถึงแจ้งลาหรือถอนบุตรหลานได้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ครูลงเวลาเข้า-ออกด้วย GPS ระบบคิดการมาสายตามกลุ่มงาน ถ้าออกงานเกินเวลาเลิกงานจะได้ OT ปัดเป็นชั่วโมงเต็ม เศษตั้งแต่ 50 นาทีขึ้นไปนับเป็น 1 ชั่วโมง คิดค่าตามเงินเดือนคูณ 1.5 ตามกฎหมายแรงงาน และต้องผ่านการอนุมัติจากหัวหน้าครูและแอดมินก่อนเข้าเงินเดือน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จุดสำคัญของสมุดรายงานคือระบบร่างก่อนส่ง ครูบันทึกเป็นร่างได้เรื่อย ๆ แม้ยังกรอกไม่ครบ ผู้ปกครองยังไม่เห็น แก้ไขได้ตลอด เมื่อพร้อมจึงกดส่ง ระบบแจ้งเตือนผู้ปกครองและล็อกรายงาน สถานะจะขึ้นว่าส่งแล้ววันนี้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ครูประเมินพัฒนาการเด็กในชั้นที่รับผิดชอบ ระบบจับคู่ช่วงอายุกับเกณฑ์ที่ต้องประเมินให้ เลือกผ่าน ไม่ผ่าน หรือยังไม่ประเมิน พร้อมบันทึกน้ำหนักส่วนสูงและแนบรูป ระบบย่อรูปอัตโนมัติและแสดงกราฟเทียบเกณฑ์ทันที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ครูเช็คอินแทนได้เมื่อคนมารับไม่ใช่ผู้ปกครองในระบบ ต้องระบุหมายเหตุ มีแบบบันทึกอุบัติเหตุรายบุคคลตามแบบราชการ 17 ประเภท แจ้งหัวหน้าและแอดมินทันที และครูหนึ่งคนดูแลได้หลายชั้นเรียนพร้อมปุ่มสลับ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ครูยื่นใบลาโดยเลือกประเภทและระบุวัน ดูสิทธิ์คงเหลือได้ การอนุมัติมี 2 ชั้น หัวหน้าครูอนุมัติก่อน แล้วส่งต่อแอดมิน เมื่อครบทั้งสองชั้นจึงอนุมัติสมบูรณ์และแจ้งเตือนครู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หัวหน้าครูมีสิทธิ์ทุกอย่างเหมือนครู บวกเมนูอนุมัติ เห็นคำขอลาและ OT ของลูกน้องที่หน้าแรก กดอนุมัติหรือปฏิเสธได้ เป็นการอนุมัติชั้นแรกก่อนส่งต่อแอดมิน ส่วน OT ของหัวหน้าเองจะข้ามไปที่แอดมินโดยตรง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หน้าแรกของแอดมินคือแดชบอร์ด เห็นการมาเรียนแต่ละชั้นครบทุกแผนก สถานะมา ลา ขาด และการมาทำงานของพนักงาน ตรงเวลา สาย ขาด มีฟังก์ชันดูแทน เพื่อตรวจสอบมุมมองครูหรือผู้ปกครอง และจัดการประกาศ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แอดมินจัดการข้อมูลทั้งหมด นักเรียน ผู้ปกครอง พนักงาน จัดแผนกและชั้นเรียน กำหนดกลุ่มงานและเวลาทำงาน ปฏิทินวันหยุด และนำเข้า-ส่งออกข้อมูลผ่าน Excel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ด้านการเงิน แอดมินออกบิลรายเดือนอัตโนมัติหรือรายบุคคล ตรวจสลิปที่ผู้ปกครองแนบพร้อมเห็นรูปจริงและผลตรวจ SlipOK ยืนยันทีละสลิป รองรับจ่ายบางส่วน และดูสรุปรายรับค้างชำระ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แอดมินคิดเงินเดือนรวมเบี้ยขยันและ OT หักประกันสังคมอัตโนมัติ พิมพ์สลิปได้ จัดการ OT ครูโดยยืนยันหรือแก้ไขได้ เฉพาะที่อนุมัติแล้วเข้าเงินเดือน และกำหนดวัน Big Cleaning ซึ่งเป็นวันทำงานไม่กำหนดเวลา มาแล้วได้เบี้ยขยัน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แอดมินดูสมุดรายงานทุกคน ปลดล็อกเพื่อแก้ไขได้ ตั้งค่าระบบทั้งพิกัด GPS เบี้ยขยัน สิทธิ์ลา อัตรา OT และวัน Big Cleaning ระบบสำรองข้อมูลอัตโนมัติทุกวันเก็บ 14 วัน กู้คืนแบบไม่ทับของเดิม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ความปลอดภัยข้อมูลเป็นหัวใจสำคัญ แต่ละครอบครัวเห็นเฉพาะข้อมูลของตน มีระบบยืนยันตัวตน ป้องกันข้อมูลหายด้วยการล็อกและสำรองทุกวัน ปฏิบัติตาม PDPA และทุกการแก้ไขสำคัญมีบันทึกย้อนหลัง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คำถามที่พบบ่อย ถ้าแอปไม่อัปเดตให้ปิดเปิดใหม่ ถ้าเช็คอินไม่ได้ให้เปิด GPS ครูใหม่ให้แจ้ง LINE ID กับแอดมิน ลืมรหัสสลิปให้กดลืมรหัสผ่าน สลิปยอดไม่ตรงให้ตรวจยอดโอน และสลับภาษาไทย-อังกฤษได้ที่มุมขวาบน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ขอบคุณค่ะ ทุกคนสามารถเริ่มใช้งานได้เลยผ่าน LINE ของโรงเรียน หากมีคำถามการใช้งานติดต่อผู้ดูแลระบบได้ตลอด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A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54480" y="-1554480"/>
            <a:ext cx="4572000" cy="4572000"/>
          </a:xfrm>
          <a:prstGeom prst="ellipse">
            <a:avLst/>
          </a:prstGeom>
          <a:solidFill>
            <a:srgbClr val="1565C0">
              <a:alpha val="34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11512" y="4480560"/>
            <a:ext cx="4572000" cy="4572000"/>
          </a:xfrm>
          <a:prstGeom prst="ellipse">
            <a:avLst/>
          </a:prstGeom>
          <a:solidFill>
            <a:srgbClr val="D32F2F">
              <a:alpha val="28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34440"/>
            <a:ext cx="2286000" cy="2286000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1B2A41">
                <a:alpha val="18000"/>
              </a:srgbClr>
            </a:outerShdw>
          </a:effectLst>
        </p:spPr>
      </p:pic>
      <p:sp>
        <p:nvSpPr>
          <p:cNvPr id="5" name="Text 2"/>
          <p:cNvSpPr/>
          <p:nvPr/>
        </p:nvSpPr>
        <p:spPr>
          <a:xfrm>
            <a:off x="3383280" y="1417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F4A7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ATOM NURSERY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337560" y="187452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ระบบบริหารจัดการโรงเรียน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3364992" y="2788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BD9E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คู่มือการใช้งานฉบับสมบูรณ์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3383280" y="3429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FB6D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"Learn happiness, funny &amp; lively"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3383280" y="4343400"/>
            <a:ext cx="1965960" cy="566928"/>
          </a:xfrm>
          <a:prstGeom prst="roundRect">
            <a:avLst>
              <a:gd name="adj" fmla="val 48387"/>
            </a:avLst>
          </a:prstGeom>
          <a:solidFill>
            <a:srgbClr val="1E88E5"/>
          </a:solidFill>
          <a:ln/>
        </p:spPr>
      </p:sp>
      <p:sp>
        <p:nvSpPr>
          <p:cNvPr id="10" name="Text 7"/>
          <p:cNvSpPr/>
          <p:nvPr/>
        </p:nvSpPr>
        <p:spPr>
          <a:xfrm>
            <a:off x="3383280" y="4343400"/>
            <a:ext cx="1965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ผู้ปกครอง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532120" y="4343400"/>
            <a:ext cx="1965960" cy="566928"/>
          </a:xfrm>
          <a:prstGeom prst="roundRect">
            <a:avLst>
              <a:gd name="adj" fmla="val 48387"/>
            </a:avLst>
          </a:prstGeom>
          <a:solidFill>
            <a:srgbClr val="1565C0"/>
          </a:solidFill>
          <a:ln/>
        </p:spPr>
      </p:sp>
      <p:sp>
        <p:nvSpPr>
          <p:cNvPr id="12" name="Text 9"/>
          <p:cNvSpPr/>
          <p:nvPr/>
        </p:nvSpPr>
        <p:spPr>
          <a:xfrm>
            <a:off x="5532120" y="4343400"/>
            <a:ext cx="1965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คุณครู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7680960" y="4343400"/>
            <a:ext cx="1965960" cy="566928"/>
          </a:xfrm>
          <a:prstGeom prst="roundRect">
            <a:avLst>
              <a:gd name="adj" fmla="val 48387"/>
            </a:avLst>
          </a:prstGeom>
          <a:solidFill>
            <a:srgbClr val="D32F2F"/>
          </a:solidFill>
          <a:ln/>
        </p:spPr>
      </p:sp>
      <p:sp>
        <p:nvSpPr>
          <p:cNvPr id="14" name="Text 11"/>
          <p:cNvSpPr/>
          <p:nvPr/>
        </p:nvSpPr>
        <p:spPr>
          <a:xfrm>
            <a:off x="7680960" y="4343400"/>
            <a:ext cx="1965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หัวหน้าครู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9829800" y="4343400"/>
            <a:ext cx="1965960" cy="566928"/>
          </a:xfrm>
          <a:prstGeom prst="roundRect">
            <a:avLst>
              <a:gd name="adj" fmla="val 48387"/>
            </a:avLst>
          </a:prstGeom>
          <a:solidFill>
            <a:srgbClr val="F4A72B"/>
          </a:solidFill>
          <a:ln/>
        </p:spPr>
      </p:sp>
      <p:sp>
        <p:nvSpPr>
          <p:cNvPr id="16" name="Text 13"/>
          <p:cNvSpPr/>
          <p:nvPr/>
        </p:nvSpPr>
        <p:spPr>
          <a:xfrm>
            <a:off x="9829800" y="4343400"/>
            <a:ext cx="1965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ผู้ดูแลระบบ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3383280" y="5212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6D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นำเสนอ ~30 นาที  ·  ใช้งานผ่าน LINE บนมือถือ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32F2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หัวข้อการนำเสนอ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D2A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สิ่งที่เราจะเรียนรู้วันนี้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1088136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883664"/>
            <a:ext cx="457200" cy="457200"/>
          </a:xfrm>
          <a:prstGeom prst="ellipse">
            <a:avLst/>
          </a:prstGeom>
          <a:solidFill>
            <a:srgbClr val="1565C0"/>
          </a:solidFill>
          <a:ln/>
          <a:effectLst>
            <a:outerShdw sx="100000" sy="100000" kx="0" ky="0" algn="bl" rotWithShape="0" blurRad="101600" dist="25400" dir="5400000">
              <a:srgbClr val="1B2A41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18836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17320" y="1837944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ภาพรวมระบบ &amp; แนวคิด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0" y="1837944"/>
            <a:ext cx="5852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ระบบคืออะไร ทำไมต้องใช้ และการเข้าสู่ระบบ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2560320"/>
            <a:ext cx="1088136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77240" y="2660904"/>
            <a:ext cx="457200" cy="457200"/>
          </a:xfrm>
          <a:prstGeom prst="ellipse">
            <a:avLst/>
          </a:prstGeom>
          <a:solidFill>
            <a:srgbClr val="1E88E5"/>
          </a:solidFill>
          <a:ln/>
          <a:effectLst>
            <a:outerShdw sx="100000" sy="100000" kx="0" ky="0" algn="bl" rotWithShape="0" blurRad="101600" dist="25400" dir="5400000">
              <a:srgbClr val="1B2A41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77240" y="26609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17320" y="2615184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สำหรับผู้ปกครอง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486400" y="2615184"/>
            <a:ext cx="5852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ลงทะเบียน เช็คอิน รายงานประจำวัน การเงิน พัฒนาการ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3337560"/>
            <a:ext cx="1088136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77240" y="3438144"/>
            <a:ext cx="457200" cy="457200"/>
          </a:xfrm>
          <a:prstGeom prst="ellipse">
            <a:avLst/>
          </a:prstGeom>
          <a:solidFill>
            <a:srgbClr val="D32F2F"/>
          </a:solidFill>
          <a:ln/>
          <a:effectLst>
            <a:outerShdw sx="100000" sy="100000" kx="0" ky="0" algn="bl" rotWithShape="0" blurRad="101600" dist="25400" dir="5400000">
              <a:srgbClr val="1B2A41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77240" y="34381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17320" y="3392424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สำหรับคุณครู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486400" y="3392424"/>
            <a:ext cx="5852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ลงเวลา สมุดรายงาน ประเมินพัฒนาการ การลา OT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" y="4114800"/>
            <a:ext cx="1088136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77240" y="4215384"/>
            <a:ext cx="457200" cy="457200"/>
          </a:xfrm>
          <a:prstGeom prst="ellipse">
            <a:avLst/>
          </a:prstGeom>
          <a:solidFill>
            <a:srgbClr val="F4A72B"/>
          </a:solidFill>
          <a:ln/>
          <a:effectLst>
            <a:outerShdw sx="100000" sy="100000" kx="0" ky="0" algn="bl" rotWithShape="0" blurRad="101600" dist="25400" dir="5400000">
              <a:srgbClr val="1B2A41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77240" y="421538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417320" y="4169664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สำหรับหัวหน้าครู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486400" y="4169664"/>
            <a:ext cx="5852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อนุมัติการลาและ OT ของทีม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40080" y="4892040"/>
            <a:ext cx="1088136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77240" y="4992624"/>
            <a:ext cx="457200" cy="457200"/>
          </a:xfrm>
          <a:prstGeom prst="ellipse">
            <a:avLst/>
          </a:prstGeom>
          <a:solidFill>
            <a:srgbClr val="2E7D32"/>
          </a:solidFill>
          <a:ln/>
          <a:effectLst>
            <a:outerShdw sx="100000" sy="100000" kx="0" ky="0" algn="bl" rotWithShape="0" blurRad="101600" dist="25400" dir="5400000">
              <a:srgbClr val="1B2A41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777240" y="49926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417320" y="4946904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สำหรับผู้ดูแลระบบ (Admin)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5486400" y="4946904"/>
            <a:ext cx="5852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แดชบอร์ด จัดการข้อมูล การเงิน เงินเดือน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640080" y="5669280"/>
            <a:ext cx="1088136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77240" y="5769864"/>
            <a:ext cx="457200" cy="457200"/>
          </a:xfrm>
          <a:prstGeom prst="ellipse">
            <a:avLst/>
          </a:prstGeom>
          <a:solidFill>
            <a:srgbClr val="0D2A5E"/>
          </a:solidFill>
          <a:ln/>
          <a:effectLst>
            <a:outerShdw sx="100000" sy="100000" kx="0" ky="0" algn="bl" rotWithShape="0" blurRad="101600" dist="25400" dir="5400000">
              <a:srgbClr val="1B2A41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777240" y="57698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6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417320" y="5724144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ความปลอดภัยข้อมูล &amp; เคล็ดลับ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5486400" y="5724144"/>
            <a:ext cx="5852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PDPA การสำรองข้อมูล และคำถามที่พบบ่อย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32F2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ภาพรวมระบบ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D2A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ระบบเดียว ครบทุกงานของโรงเรียน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3474720" cy="3383280"/>
          </a:xfrm>
          <a:prstGeom prst="roundRect">
            <a:avLst>
              <a:gd name="adj" fmla="val 3243"/>
            </a:avLst>
          </a:prstGeom>
          <a:solidFill>
            <a:srgbClr val="E8F1FC"/>
          </a:solidFill>
          <a:ln w="12700">
            <a:solidFill>
              <a:srgbClr val="DCE6F2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74520" y="2148840"/>
            <a:ext cx="1005840" cy="1005840"/>
          </a:xfrm>
          <a:prstGeom prst="ellipse">
            <a:avLst/>
          </a:prstGeom>
          <a:solidFill>
            <a:srgbClr val="1565C0"/>
          </a:solidFill>
          <a:ln/>
          <a:effectLst>
            <a:outerShdw sx="100000" sy="100000" kx="0" ky="0" algn="bl" rotWithShape="0" blurRad="101600" dist="25400" dir="5400000">
              <a:srgbClr val="1B2A41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874520" y="214884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📱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822960" y="33375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ใช้ผ่าน LINE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60120" y="3840480"/>
            <a:ext cx="2834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B7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เข้าสู่ระบบด้วย LINE ไม่ต้องจำรหัส ไม่ต้องติดตั้งแอป เปิดจากมือถือได้ทันที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43400" y="1828800"/>
            <a:ext cx="3474720" cy="3383280"/>
          </a:xfrm>
          <a:prstGeom prst="roundRect">
            <a:avLst>
              <a:gd name="adj" fmla="val 3243"/>
            </a:avLst>
          </a:prstGeom>
          <a:solidFill>
            <a:srgbClr val="FDECEA"/>
          </a:solidFill>
          <a:ln w="12700">
            <a:solidFill>
              <a:srgbClr val="DCE6F2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577840" y="2148840"/>
            <a:ext cx="1005840" cy="1005840"/>
          </a:xfrm>
          <a:prstGeom prst="ellipse">
            <a:avLst/>
          </a:prstGeom>
          <a:solidFill>
            <a:srgbClr val="D32F2F"/>
          </a:solidFill>
          <a:ln/>
          <a:effectLst>
            <a:outerShdw sx="100000" sy="100000" kx="0" ky="0" algn="bl" rotWithShape="0" blurRad="101600" dist="25400" dir="5400000">
              <a:srgbClr val="1B2A41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577840" y="214884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☁️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4526280" y="33375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ข้อมูลบนคลาวด์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663440" y="3840480"/>
            <a:ext cx="2834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B7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เก็บบน Google ปลอดภัย สำรองอัตโนมัติทุกวัน เข้าถึงได้ทุกที่ทุกเวลา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046720" y="1828800"/>
            <a:ext cx="3474720" cy="3383280"/>
          </a:xfrm>
          <a:prstGeom prst="roundRect">
            <a:avLst>
              <a:gd name="adj" fmla="val 3243"/>
            </a:avLst>
          </a:prstGeom>
          <a:solidFill>
            <a:srgbClr val="E8F1FC"/>
          </a:solidFill>
          <a:ln w="12700">
            <a:solidFill>
              <a:srgbClr val="DCE6F2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9281160" y="2148840"/>
            <a:ext cx="1005840" cy="1005840"/>
          </a:xfrm>
          <a:prstGeom prst="ellipse">
            <a:avLst/>
          </a:prstGeom>
          <a:solidFill>
            <a:srgbClr val="2E7D32"/>
          </a:solidFill>
          <a:ln/>
          <a:effectLst>
            <a:outerShdw sx="100000" sy="100000" kx="0" ky="0" algn="bl" rotWithShape="0" blurRad="101600" dist="25400" dir="5400000">
              <a:srgbClr val="1B2A41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281160" y="214884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👨‍👩‍👧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8229600" y="33375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 บทบาทในแอปเดียว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366760" y="3840480"/>
            <a:ext cx="2834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B7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ผู้ปกครอง คุณครู หัวหน้าครู และแอดมิน เห็นเมนูเฉพาะบทบาทของตน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40080" y="553212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1565C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แทนที่สมุดกระดาษ ไลน์กลุ่ม และไฟล์ Excel ที่กระจัดกระจาย — รวมทุกอย่างไว้ในที่เดียว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32F2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แนวคิด · ทำไมต้องใช้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D2A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หลักคิดเบื้องหลังระบบ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530352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96112" y="2130552"/>
            <a:ext cx="658368" cy="658368"/>
          </a:xfrm>
          <a:prstGeom prst="ellipse">
            <a:avLst/>
          </a:prstGeom>
          <a:solidFill>
            <a:srgbClr val="1565C0"/>
          </a:solidFill>
          <a:ln/>
          <a:effectLst>
            <a:outerShdw sx="100000" sy="100000" kx="0" ky="0" algn="bl" rotWithShape="0" blurRad="101600" dist="25400" dir="5400000">
              <a:srgbClr val="1B2A41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96112" y="2130552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✓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691640" y="2093976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A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ลดงานซ้ำซ้อน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960120" y="2770632"/>
            <a:ext cx="4736592" cy="667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5B6B7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ครูกรอกครั้งเดียว ผู้ปกครองเห็นทันที ไม่ต้องพิมพ์ซ้ำหรือถ่ายรูปส่งไลน์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72200" y="1874520"/>
            <a:ext cx="530352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28232" y="2130552"/>
            <a:ext cx="658368" cy="658368"/>
          </a:xfrm>
          <a:prstGeom prst="ellipse">
            <a:avLst/>
          </a:prstGeom>
          <a:solidFill>
            <a:srgbClr val="D32F2F"/>
          </a:solidFill>
          <a:ln/>
          <a:effectLst>
            <a:outerShdw sx="100000" sy="100000" kx="0" ky="0" algn="bl" rotWithShape="0" blurRad="101600" dist="25400" dir="5400000">
              <a:srgbClr val="1B2A41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130552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✓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223760" y="2093976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A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โปร่งใส ตรวจสอบได้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6492240" y="2770632"/>
            <a:ext cx="4736592" cy="667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5B6B7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การเงิน การมาเรียน OT ทุกอย่างมีหลักฐานและประวัติย้อนหลัง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" y="3749040"/>
            <a:ext cx="530352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96112" y="4005072"/>
            <a:ext cx="658368" cy="658368"/>
          </a:xfrm>
          <a:prstGeom prst="ellipse">
            <a:avLst/>
          </a:prstGeom>
          <a:solidFill>
            <a:srgbClr val="2E7D32"/>
          </a:solidFill>
          <a:ln/>
          <a:effectLst>
            <a:outerShdw sx="100000" sy="100000" kx="0" ky="0" algn="bl" rotWithShape="0" blurRad="101600" dist="25400" dir="5400000">
              <a:srgbClr val="1B2A41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96112" y="4005072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✓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691640" y="3968496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A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สื่อสารเรียลไทม์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960120" y="4645152"/>
            <a:ext cx="4736592" cy="667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5B6B7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แจ้งเตือนผ่าน LINE เมื่อมีรายงาน บิล หรือเหตุการณ์สำคัญ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172200" y="3749040"/>
            <a:ext cx="530352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28232" y="4005072"/>
            <a:ext cx="658368" cy="658368"/>
          </a:xfrm>
          <a:prstGeom prst="ellipse">
            <a:avLst/>
          </a:prstGeom>
          <a:solidFill>
            <a:srgbClr val="F4A72B"/>
          </a:solidFill>
          <a:ln/>
          <a:effectLst>
            <a:outerShdw sx="100000" sy="100000" kx="0" ky="0" algn="bl" rotWithShape="0" blurRad="101600" dist="25400" dir="5400000">
              <a:srgbClr val="1B2A41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428232" y="4005072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✓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7223760" y="3968496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A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ปกป้องข้อมูลเด็ก (PDPA)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6492240" y="4645152"/>
            <a:ext cx="4736592" cy="667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5B6B7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เข้าถึงได้เฉพาะผู้มีสิทธิ์ แต่ละครอบครัวเห็นเฉพาะข้อมูลบุตรหลานตนเอง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32F2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เริ่มต้นใช้งาน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D2A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เข้าสู่ระบบ &amp; 4 บทบาท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5029200" cy="3749040"/>
          </a:xfrm>
          <a:prstGeom prst="roundRect">
            <a:avLst>
              <a:gd name="adj" fmla="val 2927"/>
            </a:avLst>
          </a:prstGeom>
          <a:solidFill>
            <a:srgbClr val="E8F1FC"/>
          </a:solidFill>
          <a:ln w="12700">
            <a:solidFill>
              <a:srgbClr val="DCE6F2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20574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2A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🔑 การเข้าสู่ระบบ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60120" y="2743200"/>
            <a:ext cx="457200" cy="457200"/>
          </a:xfrm>
          <a:prstGeom prst="ellipse">
            <a:avLst/>
          </a:prstGeom>
          <a:solidFill>
            <a:srgbClr val="1565C0"/>
          </a:solidFill>
          <a:ln/>
          <a:effectLst>
            <a:outerShdw sx="100000" sy="100000" kx="0" ky="0" algn="bl" rotWithShape="0" blurRad="101600" dist="25400" dir="5400000">
              <a:srgbClr val="1B2A41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60120" y="2743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600200" y="27432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A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เปิดลิงก์ของโรงเรียนผ่าน LINE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960120" y="3429000"/>
            <a:ext cx="457200" cy="457200"/>
          </a:xfrm>
          <a:prstGeom prst="ellipse">
            <a:avLst/>
          </a:prstGeom>
          <a:solidFill>
            <a:srgbClr val="1565C0"/>
          </a:solidFill>
          <a:ln/>
          <a:effectLst>
            <a:outerShdw sx="100000" sy="100000" kx="0" ky="0" algn="bl" rotWithShape="0" blurRad="101600" dist="25400" dir="5400000">
              <a:srgbClr val="1B2A41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60120" y="3429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600200" y="34290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A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กด "เข้าสู่ระบบด้วย LINE"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960120" y="4114800"/>
            <a:ext cx="457200" cy="457200"/>
          </a:xfrm>
          <a:prstGeom prst="ellipse">
            <a:avLst/>
          </a:prstGeom>
          <a:solidFill>
            <a:srgbClr val="1565C0"/>
          </a:solidFill>
          <a:ln/>
          <a:effectLst>
            <a:outerShdw sx="100000" sy="100000" kx="0" ky="0" algn="bl" rotWithShape="0" blurRad="101600" dist="25400" dir="5400000">
              <a:srgbClr val="1B2A41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60120" y="4114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600200" y="41148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A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ระบบจดจำบทบาทของคุณอัตโนมัติ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960120" y="4800600"/>
            <a:ext cx="457200" cy="457200"/>
          </a:xfrm>
          <a:prstGeom prst="ellipse">
            <a:avLst/>
          </a:prstGeom>
          <a:solidFill>
            <a:srgbClr val="1565C0"/>
          </a:solidFill>
          <a:ln/>
          <a:effectLst>
            <a:outerShdw sx="100000" sy="100000" kx="0" ky="0" algn="bl" rotWithShape="0" blurRad="101600" dist="25400" dir="5400000">
              <a:srgbClr val="1B2A41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60120" y="4800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600200" y="48006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A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ครูใหม่: แจ้ง LINE ID ให้แอดมินผูกบัญชี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989320" y="1828800"/>
            <a:ext cx="5532120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72200" y="1956816"/>
            <a:ext cx="585216" cy="585216"/>
          </a:xfrm>
          <a:prstGeom prst="ellipse">
            <a:avLst/>
          </a:prstGeom>
          <a:solidFill>
            <a:srgbClr val="1E88E5"/>
          </a:solidFill>
          <a:ln/>
          <a:effectLst>
            <a:outerShdw sx="100000" sy="100000" kx="0" ky="0" algn="bl" rotWithShape="0" blurRad="101600" dist="25400" dir="5400000">
              <a:srgbClr val="1B2A41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172200" y="1956816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👪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949440" y="192024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ผู้ปกครอง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686800" y="192024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ดูรายงาน จ่ายเงิน ติดตามพัฒนาการ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989320" y="2788920"/>
            <a:ext cx="5532120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72200" y="2916936"/>
            <a:ext cx="585216" cy="585216"/>
          </a:xfrm>
          <a:prstGeom prst="ellipse">
            <a:avLst/>
          </a:prstGeom>
          <a:solidFill>
            <a:srgbClr val="D32F2F"/>
          </a:solidFill>
          <a:ln/>
          <a:effectLst>
            <a:outerShdw sx="100000" sy="100000" kx="0" ky="0" algn="bl" rotWithShape="0" blurRad="101600" dist="25400" dir="5400000">
              <a:srgbClr val="1B2A41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172200" y="2916936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👩‍🏫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6949440" y="288036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คุณครู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8686800" y="288036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ลงเวลา รายงานประจำวัน ประเมินเด็ก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989320" y="3749040"/>
            <a:ext cx="5532120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72200" y="3877056"/>
            <a:ext cx="585216" cy="585216"/>
          </a:xfrm>
          <a:prstGeom prst="ellipse">
            <a:avLst/>
          </a:prstGeom>
          <a:solidFill>
            <a:srgbClr val="F4A72B"/>
          </a:solidFill>
          <a:ln/>
          <a:effectLst>
            <a:outerShdw sx="100000" sy="100000" kx="0" ky="0" algn="bl" rotWithShape="0" blurRad="101600" dist="25400" dir="5400000">
              <a:srgbClr val="1B2A41">
                <a:alpha val="1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172200" y="3877056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⭐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6949440" y="384048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หัวหน้าครู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686800" y="384048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สิทธิ์ครู + อนุมัติลา/OT ของทีม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5989320" y="4709160"/>
            <a:ext cx="5532120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1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172200" y="4837176"/>
            <a:ext cx="585216" cy="585216"/>
          </a:xfrm>
          <a:prstGeom prst="ellipse">
            <a:avLst/>
          </a:prstGeom>
          <a:solidFill>
            <a:srgbClr val="2E7D32"/>
          </a:solidFill>
          <a:ln/>
          <a:effectLst>
            <a:outerShdw sx="100000" sy="100000" kx="0" ky="0" algn="bl" rotWithShape="0" blurRad="101600" dist="25400" dir="5400000">
              <a:srgbClr val="1B2A41">
                <a:alpha val="18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172200" y="4837176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🛡️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6949440" y="480060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ผู้ดูแลระบบ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8686800" y="480060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จัดการทั้งระบบ การเงิน เงินเดือน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2A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2872" y="-1463040"/>
            <a:ext cx="4023360" cy="4023360"/>
          </a:xfrm>
          <a:prstGeom prst="ellipse">
            <a:avLst/>
          </a:prstGeom>
          <a:solidFill>
            <a:srgbClr val="1565C0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51592" y="4846320"/>
            <a:ext cx="2926080" cy="2926080"/>
          </a:xfrm>
          <a:prstGeom prst="ellipse">
            <a:avLst/>
          </a:prstGeom>
          <a:solidFill>
            <a:srgbClr val="1E88E5">
              <a:alpha val="2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554480"/>
            <a:ext cx="2743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0" b="1" dirty="0">
                <a:solidFill>
                  <a:srgbClr val="1E88E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01</a:t>
            </a:r>
            <a:endParaRPr lang="en-US" sz="7800" dirty="0"/>
          </a:p>
        </p:txBody>
      </p:sp>
      <p:sp>
        <p:nvSpPr>
          <p:cNvPr id="5" name="Text 3"/>
          <p:cNvSpPr/>
          <p:nvPr/>
        </p:nvSpPr>
        <p:spPr>
          <a:xfrm>
            <a:off x="868680" y="288036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สำหรับผู้ปกครอง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914400" y="388620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BD9E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ลงทะเบียน · เช็คอิน · รายงานประจำวัน · การเงิน · พัฒนาการ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14400" y="47091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A7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👪 บทบาท: ผู้ปกครอง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32F2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ผู้ปกครอง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D2A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ลงทะเบียน &amp; เพิ่มบุตรหลาน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530352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96112" y="2084832"/>
            <a:ext cx="658368" cy="658368"/>
          </a:xfrm>
          <a:prstGeom prst="ellipse">
            <a:avLst/>
          </a:prstGeom>
          <a:solidFill>
            <a:srgbClr val="1565C0"/>
          </a:solidFill>
          <a:ln/>
          <a:effectLst>
            <a:outerShdw sx="100000" sy="100000" kx="0" ky="0" algn="bl" rotWithShape="0" blurRad="101600" dist="25400" dir="5400000">
              <a:srgbClr val="1B2A41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96112" y="2084832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691640" y="2048256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A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ลงทะเบียนผู้ปกครอง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960120" y="2724912"/>
            <a:ext cx="4736592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5B6B7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กรอกคำนำหน้า ชื่อ ชื่อเล่น ความสัมพันธ์</a:t>
            </a:r>
            <a:endParaRPr lang="en-US" sz="1150" dirty="0"/>
          </a:p>
          <a:p>
            <a:pPr marL="152400" indent="-1524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5B6B7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ถ่ายรูปยืนยันตัวตน (บังคับเพื่อความปลอดภัย)</a:t>
            </a:r>
            <a:endParaRPr lang="en-US" sz="1150" dirty="0"/>
          </a:p>
          <a:p>
            <a:pPr marL="152400" indent="-1524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5B6B7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ยอมรับความยินยอม PDPA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989320" y="1828800"/>
            <a:ext cx="530352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245352" y="2084832"/>
            <a:ext cx="658368" cy="658368"/>
          </a:xfrm>
          <a:prstGeom prst="ellipse">
            <a:avLst/>
          </a:prstGeom>
          <a:solidFill>
            <a:srgbClr val="1E88E5"/>
          </a:solidFill>
          <a:ln/>
          <a:effectLst>
            <a:outerShdw sx="100000" sy="100000" kx="0" ky="0" algn="bl" rotWithShape="0" blurRad="101600" dist="25400" dir="5400000">
              <a:srgbClr val="1B2A41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245352" y="2084832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040880" y="2048256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A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เพิ่มบุตรหลาน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6309360" y="2724912"/>
            <a:ext cx="4736592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5B6B7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เพิ่มเด็กใหม่ด้วยเลขบัตรประชาชน</a:t>
            </a:r>
            <a:endParaRPr lang="en-US" sz="1150" dirty="0"/>
          </a:p>
          <a:p>
            <a:pPr marL="152400" indent="-1524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5B6B7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หรือเชื่อมกับเด็กที่มีอยู่ (พ่อและแม่คนละบัญชี)</a:t>
            </a:r>
            <a:endParaRPr lang="en-US" sz="1150" dirty="0"/>
          </a:p>
          <a:p>
            <a:pPr marL="152400" indent="-1524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5B6B7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กำหนดผู้รับได้สูงสุด 4 คน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" y="3794760"/>
            <a:ext cx="530352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96112" y="4050792"/>
            <a:ext cx="658368" cy="658368"/>
          </a:xfrm>
          <a:prstGeom prst="ellipse">
            <a:avLst/>
          </a:prstGeom>
          <a:solidFill>
            <a:srgbClr val="D32F2F"/>
          </a:solidFill>
          <a:ln/>
          <a:effectLst>
            <a:outerShdw sx="100000" sy="100000" kx="0" ky="0" algn="bl" rotWithShape="0" blurRad="101600" dist="25400" dir="5400000">
              <a:srgbClr val="1B2A41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96112" y="4050792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691640" y="4014216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A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ข้อมูลบุตรหลาน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960120" y="4690872"/>
            <a:ext cx="4736592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5B6B7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ดูชื่อเล่น อายุ ชั้นเรียน แพ็กเกจ</a:t>
            </a:r>
            <a:endParaRPr lang="en-US" sz="1150" dirty="0"/>
          </a:p>
          <a:p>
            <a:pPr marL="152400" indent="-1524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5B6B7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แก้ไขข้อมูลปลอดภัย: หมู่เลือด แพ้อาหาร</a:t>
            </a:r>
            <a:endParaRPr lang="en-US" sz="1150" dirty="0"/>
          </a:p>
          <a:p>
            <a:pPr marL="152400" indent="-1524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5B6B7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ข้อมูลสำคัญ (ชั้น/บัตร) ติดต่อแอดมิน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989320" y="3794760"/>
            <a:ext cx="530352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245352" y="4050792"/>
            <a:ext cx="658368" cy="658368"/>
          </a:xfrm>
          <a:prstGeom prst="ellipse">
            <a:avLst/>
          </a:prstGeom>
          <a:solidFill>
            <a:srgbClr val="F4A72B"/>
          </a:solidFill>
          <a:ln/>
          <a:effectLst>
            <a:outerShdw sx="100000" sy="100000" kx="0" ky="0" algn="bl" rotWithShape="0" blurRad="101600" dist="25400" dir="5400000">
              <a:srgbClr val="1B2A41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245352" y="4050792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7040880" y="4014216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A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โปรไฟล์ครอบครัว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6309360" y="4690872"/>
            <a:ext cx="4736592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5B6B7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ผู้ปกครองหลายคนต่อเด็กหนึ่งคน</a:t>
            </a:r>
            <a:endParaRPr lang="en-US" sz="1150" dirty="0"/>
          </a:p>
          <a:p>
            <a:pPr marL="152400" indent="-1524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5B6B7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แต่ละคนแก้ไขข้อมูลของตนได้</a:t>
            </a:r>
            <a:endParaRPr lang="en-US" sz="1150" dirty="0"/>
          </a:p>
          <a:p>
            <a:pPr marL="152400" indent="-1524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5B6B7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ถ้าไม่ใส่ชื่อเล่น ระบบแสดง "คุณพ่อ/แม่ น้อง..."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32F2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ผู้ปกครอง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D2A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เช็คอิน-เอาท์ GPS &amp; OT รับช้า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5303520" cy="3703320"/>
          </a:xfrm>
          <a:prstGeom prst="roundRect">
            <a:avLst>
              <a:gd name="adj" fmla="val 2963"/>
            </a:avLst>
          </a:prstGeom>
          <a:solidFill>
            <a:srgbClr val="E8F1FC"/>
          </a:solidFill>
          <a:ln w="12700">
            <a:solidFill>
              <a:srgbClr val="DCE6F2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205740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2A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📍 เช็คอิน-เอาท์ ด้วย GPS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60120" y="2606040"/>
            <a:ext cx="47548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B2A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ระบบตรวจพิกัดจริงว่าอยู่ในรัศมีโรงเรียน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B2A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ปุ่มใหญ่ กดง่าย เช็คอินตอนส่ง เช็คเอาท์ตอนรับ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B2A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ครูได้รับแจ้งเตือนเมื่อเด็กมาถึง/กลับ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B2A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บันทึกเวลาเข้า-ออกทุกวันในปฏิทิน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989320" y="1828800"/>
            <a:ext cx="5303520" cy="3703320"/>
          </a:xfrm>
          <a:prstGeom prst="roundRect">
            <a:avLst>
              <a:gd name="adj" fmla="val 2963"/>
            </a:avLst>
          </a:prstGeom>
          <a:solidFill>
            <a:srgbClr val="FDECEA"/>
          </a:solidFill>
          <a:ln w="12700">
            <a:solidFill>
              <a:srgbClr val="DCE6F2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263640" y="205740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32F2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⏰ OT รับช้า (เกินเวลา)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309360" y="2606040"/>
            <a:ext cx="47548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B2A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มารับหลังเวลาเลิกเรียน + ช่วงผ่อนผัน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B2A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คิดค่าดูแลเพิ่มเป็นรายชั่วโมง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B2A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สแกน QR (KTB) ชำระได้ทันที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B2A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ยอดรวมเข้าบิลรายเดือนอัตโนมัติ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32F2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ผู้ปกครอง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D2A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สมุดรายงานประจำวัน &amp; พัฒนาการ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530352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96112" y="2084832"/>
            <a:ext cx="658368" cy="658368"/>
          </a:xfrm>
          <a:prstGeom prst="ellipse">
            <a:avLst/>
          </a:prstGeom>
          <a:solidFill>
            <a:srgbClr val="1565C0"/>
          </a:solidFill>
          <a:ln/>
          <a:effectLst>
            <a:outerShdw sx="100000" sy="100000" kx="0" ky="0" algn="bl" rotWithShape="0" blurRad="101600" dist="25400" dir="5400000">
              <a:srgbClr val="1B2A41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96112" y="2084832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📒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691640" y="2048256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A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สมุดรายงานประจำวัน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960120" y="2724912"/>
            <a:ext cx="4736592" cy="850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5B6B7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อารมณ์ สุขภาพ นม อาหาร การนอน การขับถ่าย</a:t>
            </a:r>
            <a:endParaRPr lang="en-US" sz="1150" dirty="0"/>
          </a:p>
          <a:p>
            <a:pPr marL="152400" indent="-1524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5B6B7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กิจกรรมการเรียนรู้ และไฮไลต์ประจำวัน</a:t>
            </a:r>
            <a:endParaRPr lang="en-US" sz="1150" dirty="0"/>
          </a:p>
          <a:p>
            <a:pPr marL="152400" indent="-1524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5B6B7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แจ้งเตือนทันทีเมื่อครูส่งรายงาน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989320" y="1828800"/>
            <a:ext cx="530352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245352" y="2084832"/>
            <a:ext cx="658368" cy="658368"/>
          </a:xfrm>
          <a:prstGeom prst="ellipse">
            <a:avLst/>
          </a:prstGeom>
          <a:solidFill>
            <a:srgbClr val="D32F2F"/>
          </a:solidFill>
          <a:ln/>
          <a:effectLst>
            <a:outerShdw sx="100000" sy="100000" kx="0" ky="0" algn="bl" rotWithShape="0" blurRad="101600" dist="25400" dir="5400000">
              <a:srgbClr val="1B2A41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245352" y="2084832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📈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040880" y="2048256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A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พัฒนาการ DSPM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6309360" y="2724912"/>
            <a:ext cx="4736592" cy="850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5B6B7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ประเมินพัฒนาการตามช่วงวัยของเด็ก</a:t>
            </a:r>
            <a:endParaRPr lang="en-US" sz="1150" dirty="0"/>
          </a:p>
          <a:p>
            <a:pPr marL="152400" indent="-1524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5B6B7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 ด้าน เทียบเกณฑ์มาตรฐานกรมอนามัย</a:t>
            </a:r>
            <a:endParaRPr lang="en-US" sz="1150" dirty="0"/>
          </a:p>
          <a:p>
            <a:pPr marL="152400" indent="-1524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5B6B7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เห็นผลผ่าน/ต้องส่งเสริมแต่ละข้อ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" y="3840480"/>
            <a:ext cx="530352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96112" y="4096512"/>
            <a:ext cx="658368" cy="658368"/>
          </a:xfrm>
          <a:prstGeom prst="ellipse">
            <a:avLst/>
          </a:prstGeom>
          <a:solidFill>
            <a:srgbClr val="2E7D32"/>
          </a:solidFill>
          <a:ln/>
          <a:effectLst>
            <a:outerShdw sx="100000" sy="100000" kx="0" ky="0" algn="bl" rotWithShape="0" blurRad="101600" dist="25400" dir="5400000">
              <a:srgbClr val="1B2A41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96112" y="4096512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📏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691640" y="4059936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A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น้ำหนัก &amp; ส่วนสูง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960120" y="4736592"/>
            <a:ext cx="4736592" cy="850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5B6B7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กราฟเทียบเกณฑ์ WHO แถบเขียว = มาตรฐาน</a:t>
            </a:r>
            <a:endParaRPr lang="en-US" sz="1150" dirty="0"/>
          </a:p>
          <a:p>
            <a:pPr marL="152400" indent="-1524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5B6B7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เส้นน้ำเงิน = ค่าของเด็ก อยู่กลาง = ปกติ</a:t>
            </a:r>
            <a:endParaRPr lang="en-US" sz="1150" dirty="0"/>
          </a:p>
          <a:p>
            <a:pPr marL="152400" indent="-1524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5B6B7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ดูแนวโน้มการเจริญเติบโตต่อเนื่อง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989320" y="3840480"/>
            <a:ext cx="530352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245352" y="4096512"/>
            <a:ext cx="658368" cy="658368"/>
          </a:xfrm>
          <a:prstGeom prst="ellipse">
            <a:avLst/>
          </a:prstGeom>
          <a:solidFill>
            <a:srgbClr val="F4A72B"/>
          </a:solidFill>
          <a:ln/>
          <a:effectLst>
            <a:outerShdw sx="100000" sy="100000" kx="0" ky="0" algn="bl" rotWithShape="0" blurRad="101600" dist="25400" dir="5400000">
              <a:srgbClr val="1B2A41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245352" y="4096512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💉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7040880" y="4059936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A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สมุดวัคซีน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6309360" y="4736592"/>
            <a:ext cx="4736592" cy="850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5B6B7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บันทึกวัคซีนแต่ละเข็มพร้อมวันที่</a:t>
            </a:r>
            <a:endParaRPr lang="en-US" sz="1150" dirty="0"/>
          </a:p>
          <a:p>
            <a:pPr marL="152400" indent="-1524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5B6B7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หลายเข็มต่อ 1 ชนิดวัคซีน</a:t>
            </a:r>
            <a:endParaRPr lang="en-US" sz="1150" dirty="0"/>
          </a:p>
          <a:p>
            <a:pPr marL="152400" indent="-1524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5B6B7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ผู้ปกครองและแอดมินอัปเดตได้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32F2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ผู้ปกครอง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D2A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การชำระเงิน · สลิป · ใบเสร็จ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3520440" cy="3566160"/>
          </a:xfrm>
          <a:prstGeom prst="roundRect">
            <a:avLst>
              <a:gd name="adj" fmla="val 3117"/>
            </a:avLst>
          </a:prstGeom>
          <a:solidFill>
            <a:srgbClr val="E8F1FC"/>
          </a:solidFill>
          <a:ln w="12700">
            <a:solidFill>
              <a:srgbClr val="DCE6F2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96112" y="2084832"/>
            <a:ext cx="658368" cy="658368"/>
          </a:xfrm>
          <a:prstGeom prst="ellipse">
            <a:avLst/>
          </a:prstGeom>
          <a:solidFill>
            <a:srgbClr val="1565C0"/>
          </a:solidFill>
          <a:ln/>
          <a:effectLst>
            <a:outerShdw sx="100000" sy="100000" kx="0" ky="0" algn="bl" rotWithShape="0" blurRad="101600" dist="25400" dir="5400000">
              <a:srgbClr val="1B2A41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96112" y="2084832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💳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691640" y="2048256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A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บิลรายเดือน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960120" y="2724912"/>
            <a:ext cx="2953512" cy="2542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5B6B7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ค่าเทอมตามแพ็กเกจ + OT + ค่าใช้จ่ายเพิ่ม</a:t>
            </a:r>
            <a:endParaRPr lang="en-US" sz="1150" dirty="0"/>
          </a:p>
          <a:p>
            <a:pPr marL="152400" indent="-1524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5B6B7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จ่ายล่วงหน้า 2/3/6/12 เดือน ลด 5–30%</a:t>
            </a:r>
            <a:endParaRPr lang="en-US" sz="1150" dirty="0"/>
          </a:p>
          <a:p>
            <a:pPr marL="152400" indent="-1524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5B6B7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สแกน QR (SCB) หรือแนบสลิป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43400" y="1828800"/>
            <a:ext cx="3520440" cy="3566160"/>
          </a:xfrm>
          <a:prstGeom prst="roundRect">
            <a:avLst>
              <a:gd name="adj" fmla="val 3117"/>
            </a:avLst>
          </a:prstGeom>
          <a:solidFill>
            <a:srgbClr val="FDECEA"/>
          </a:solidFill>
          <a:ln w="12700">
            <a:solidFill>
              <a:srgbClr val="DCE6F2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99432" y="2084832"/>
            <a:ext cx="658368" cy="658368"/>
          </a:xfrm>
          <a:prstGeom prst="ellipse">
            <a:avLst/>
          </a:prstGeom>
          <a:solidFill>
            <a:srgbClr val="D32F2F"/>
          </a:solidFill>
          <a:ln/>
          <a:effectLst>
            <a:outerShdw sx="100000" sy="100000" kx="0" ky="0" algn="bl" rotWithShape="0" blurRad="101600" dist="25400" dir="5400000">
              <a:srgbClr val="1B2A41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99432" y="2084832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🧾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394960" y="2048256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A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แนบสลิป &amp; ตรวจสอบ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4663440" y="2724912"/>
            <a:ext cx="2953512" cy="2542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5B6B7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ระบบอ่านยอดจาก QR ในสลิปอัตโนมัติ</a:t>
            </a:r>
            <a:endParaRPr lang="en-US" sz="1150" dirty="0"/>
          </a:p>
          <a:p>
            <a:pPr marL="152400" indent="-1524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5B6B7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ตรวจสอบกับ SlipOK ว่าถูกต้อง</a:t>
            </a:r>
            <a:endParaRPr lang="en-US" sz="1150" dirty="0"/>
          </a:p>
          <a:p>
            <a:pPr marL="152400" indent="-1524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5B6B7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แนบเพิ่มได้ · จ่ายบางส่วนได้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909560" y="1828800"/>
            <a:ext cx="3611880" cy="3566160"/>
          </a:xfrm>
          <a:prstGeom prst="roundRect">
            <a:avLst>
              <a:gd name="adj" fmla="val 3077"/>
            </a:avLst>
          </a:prstGeom>
          <a:solidFill>
            <a:srgbClr val="E8F1FC"/>
          </a:solidFill>
          <a:ln w="12700">
            <a:solidFill>
              <a:srgbClr val="DCE6F2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165592" y="2084832"/>
            <a:ext cx="658368" cy="658368"/>
          </a:xfrm>
          <a:prstGeom prst="ellipse">
            <a:avLst/>
          </a:prstGeom>
          <a:solidFill>
            <a:srgbClr val="2E7D32"/>
          </a:solidFill>
          <a:ln/>
          <a:effectLst>
            <a:outerShdw sx="100000" sy="100000" kx="0" ky="0" algn="bl" rotWithShape="0" blurRad="101600" dist="25400" dir="5400000">
              <a:srgbClr val="1B2A41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165592" y="2084832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📄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961120" y="2048256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A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ยืนยัน &amp; ใบเสร็จ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8229600" y="2724912"/>
            <a:ext cx="3044952" cy="2542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5B6B7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แอดมินยืนยันทุกสลิปก่อนขึ้นสถานะจ่าย</a:t>
            </a:r>
            <a:endParaRPr lang="en-US" sz="1150" dirty="0"/>
          </a:p>
          <a:p>
            <a:pPr marL="152400" indent="-1524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5B6B7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เห็นยอดค้าง/ชำระแล้วชัดเจน</a:t>
            </a:r>
            <a:endParaRPr lang="en-US" sz="1150" dirty="0"/>
          </a:p>
          <a:p>
            <a:pPr marL="152400" indent="-1524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5B6B7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พิมพ์ใบเสร็จได้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32F2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ผู้ปกครอง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D2A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ปฏิทิน · ประกัน · ข้อมูลส่วนตัว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3520440" cy="3383280"/>
          </a:xfrm>
          <a:prstGeom prst="roundRect">
            <a:avLst>
              <a:gd name="adj" fmla="val 3243"/>
            </a:avLst>
          </a:prstGeom>
          <a:solidFill>
            <a:srgbClr val="E8F1FC"/>
          </a:solidFill>
          <a:ln w="12700">
            <a:solidFill>
              <a:srgbClr val="DCE6F2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96112" y="2084832"/>
            <a:ext cx="658368" cy="658368"/>
          </a:xfrm>
          <a:prstGeom prst="ellipse">
            <a:avLst/>
          </a:prstGeom>
          <a:solidFill>
            <a:srgbClr val="1565C0"/>
          </a:solidFill>
          <a:ln/>
          <a:effectLst>
            <a:outerShdw sx="100000" sy="100000" kx="0" ky="0" algn="bl" rotWithShape="0" blurRad="101600" dist="25400" dir="5400000">
              <a:srgbClr val="1B2A41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96112" y="2084832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📅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691640" y="2048256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A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ปฏิทิน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960120" y="2724912"/>
            <a:ext cx="2953512" cy="2359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5B6B7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เวลาเข้า-ออกแต่ละวัน</a:t>
            </a:r>
            <a:endParaRPr lang="en-US" sz="1150" dirty="0"/>
          </a:p>
          <a:p>
            <a:pPr marL="152400" indent="-1524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5B6B7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วันหยุด 🏖️ และ Big Cleaning 🧹</a:t>
            </a:r>
            <a:endParaRPr lang="en-US" sz="1150" dirty="0"/>
          </a:p>
          <a:p>
            <a:pPr marL="152400" indent="-1524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5B6B7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รับช้าแสดงเป็นสีแดง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43400" y="1828800"/>
            <a:ext cx="3520440" cy="3383280"/>
          </a:xfrm>
          <a:prstGeom prst="roundRect">
            <a:avLst>
              <a:gd name="adj" fmla="val 3243"/>
            </a:avLst>
          </a:prstGeom>
          <a:solidFill>
            <a:srgbClr val="FDECEA"/>
          </a:solidFill>
          <a:ln w="12700">
            <a:solidFill>
              <a:srgbClr val="DCE6F2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99432" y="2084832"/>
            <a:ext cx="658368" cy="658368"/>
          </a:xfrm>
          <a:prstGeom prst="ellipse">
            <a:avLst/>
          </a:prstGeom>
          <a:solidFill>
            <a:srgbClr val="D32F2F"/>
          </a:solidFill>
          <a:ln/>
          <a:effectLst>
            <a:outerShdw sx="100000" sy="100000" kx="0" ky="0" algn="bl" rotWithShape="0" blurRad="101600" dist="25400" dir="5400000">
              <a:srgbClr val="1B2A41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99432" y="2084832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🛡️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394960" y="2048256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A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ประกัน (PCHI)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4663440" y="2724912"/>
            <a:ext cx="2953512" cy="2359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5B6B7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กรอกข้อมูลสมาชิกประกันครั้งเดียว</a:t>
            </a:r>
            <a:endParaRPr lang="en-US" sz="1150" dirty="0"/>
          </a:p>
          <a:p>
            <a:pPr marL="152400" indent="-1524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5B6B7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ผูกกับนักเรียนแต่ละคน</a:t>
            </a:r>
            <a:endParaRPr lang="en-US" sz="1150" dirty="0"/>
          </a:p>
          <a:p>
            <a:pPr marL="152400" indent="-1524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5B6B7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แอดมินตรวจสอบและแก้ไขได้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909560" y="1828800"/>
            <a:ext cx="3611880" cy="3383280"/>
          </a:xfrm>
          <a:prstGeom prst="roundRect">
            <a:avLst>
              <a:gd name="adj" fmla="val 3243"/>
            </a:avLst>
          </a:prstGeom>
          <a:solidFill>
            <a:srgbClr val="E8F1FC"/>
          </a:solidFill>
          <a:ln w="12700">
            <a:solidFill>
              <a:srgbClr val="DCE6F2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165592" y="2084832"/>
            <a:ext cx="658368" cy="658368"/>
          </a:xfrm>
          <a:prstGeom prst="ellipse">
            <a:avLst/>
          </a:prstGeom>
          <a:solidFill>
            <a:srgbClr val="2E7D32"/>
          </a:solidFill>
          <a:ln/>
          <a:effectLst>
            <a:outerShdw sx="100000" sy="100000" kx="0" ky="0" algn="bl" rotWithShape="0" blurRad="101600" dist="25400" dir="5400000">
              <a:srgbClr val="1B2A41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165592" y="2084832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👤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961120" y="2048256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A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ข้อมูลของฉัน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8229600" y="2724912"/>
            <a:ext cx="3044952" cy="2359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5B6B7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แก้ไขข้อมูลส่วนตัวและที่อยู่</a:t>
            </a:r>
            <a:endParaRPr lang="en-US" sz="1150" dirty="0"/>
          </a:p>
          <a:p>
            <a:pPr marL="152400" indent="-1524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5B6B7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ดูบุตรหลานที่เชื่อมทั้งหมด</a:t>
            </a:r>
            <a:endParaRPr lang="en-US" sz="1150" dirty="0"/>
          </a:p>
          <a:p>
            <a:pPr marL="152400" indent="-1524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5B6B7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แจ้งถอน/ลาของบุตรหลานได้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2A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2872" y="-1463040"/>
            <a:ext cx="4023360" cy="4023360"/>
          </a:xfrm>
          <a:prstGeom prst="ellipse">
            <a:avLst/>
          </a:prstGeom>
          <a:solidFill>
            <a:srgbClr val="1565C0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51592" y="4846320"/>
            <a:ext cx="2926080" cy="2926080"/>
          </a:xfrm>
          <a:prstGeom prst="ellipse">
            <a:avLst/>
          </a:prstGeom>
          <a:solidFill>
            <a:srgbClr val="D32F2F">
              <a:alpha val="2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554480"/>
            <a:ext cx="2743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0" b="1" dirty="0">
                <a:solidFill>
                  <a:srgbClr val="D32F2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02</a:t>
            </a:r>
            <a:endParaRPr lang="en-US" sz="7800" dirty="0"/>
          </a:p>
        </p:txBody>
      </p:sp>
      <p:sp>
        <p:nvSpPr>
          <p:cNvPr id="5" name="Text 3"/>
          <p:cNvSpPr/>
          <p:nvPr/>
        </p:nvSpPr>
        <p:spPr>
          <a:xfrm>
            <a:off x="868680" y="288036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สำหรับคุณครู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914400" y="388620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BD9E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ลงเวลา · สมุดรายงาน · ประเมินพัฒนาการ · การลา · OT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14400" y="47091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A7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👩‍🏫 บทบาท: คุณครู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32F2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คุณครู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D2A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ลงเวลาเข้า-ออกงาน &amp; OT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530352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96112" y="2084832"/>
            <a:ext cx="658368" cy="658368"/>
          </a:xfrm>
          <a:prstGeom prst="ellipse">
            <a:avLst/>
          </a:prstGeom>
          <a:solidFill>
            <a:srgbClr val="2E7D32"/>
          </a:solidFill>
          <a:ln/>
          <a:effectLst>
            <a:outerShdw sx="100000" sy="100000" kx="0" ky="0" algn="bl" rotWithShape="0" blurRad="101600" dist="25400" dir="5400000">
              <a:srgbClr val="1B2A41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96112" y="2084832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🟢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691640" y="2048256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A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ลงเวลาทำงาน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960120" y="2724912"/>
            <a:ext cx="4736592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5B6B7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เช็คอิน-เอาท์ด้วย GPS ปุ่มใหญ่</a:t>
            </a:r>
            <a:endParaRPr lang="en-US" sz="1150" dirty="0"/>
          </a:p>
          <a:p>
            <a:pPr marL="152400" indent="-1524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5B6B7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ระบบคิดการมาสายตามเวลากลุ่มงาน</a:t>
            </a:r>
            <a:endParaRPr lang="en-US" sz="1150" dirty="0"/>
          </a:p>
          <a:p>
            <a:pPr marL="152400" indent="-1524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5B6B7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ดูสถิติย้อนหลัง 3 วันล่าสุด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989320" y="1828800"/>
            <a:ext cx="530352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245352" y="2084832"/>
            <a:ext cx="658368" cy="658368"/>
          </a:xfrm>
          <a:prstGeom prst="ellipse">
            <a:avLst/>
          </a:prstGeom>
          <a:solidFill>
            <a:srgbClr val="D32F2F"/>
          </a:solidFill>
          <a:ln/>
          <a:effectLst>
            <a:outerShdw sx="100000" sy="100000" kx="0" ky="0" algn="bl" rotWithShape="0" blurRad="101600" dist="25400" dir="5400000">
              <a:srgbClr val="1B2A41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245352" y="2084832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⏰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040880" y="2048256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A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OT (ทำงานล่วงเวลา)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6309360" y="2724912"/>
            <a:ext cx="4736592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5B6B7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ออกงานหลังเวลา = OT อัตโนมัติ</a:t>
            </a:r>
            <a:endParaRPr lang="en-US" sz="1150" dirty="0"/>
          </a:p>
          <a:p>
            <a:pPr marL="152400" indent="-1524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5B6B7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ปัดเป็นชั่วโมงเต็ม: เศษ ≥ 50 นาที = 1 ชม.</a:t>
            </a:r>
            <a:endParaRPr lang="en-US" sz="1150" dirty="0"/>
          </a:p>
          <a:p>
            <a:pPr marL="152400" indent="-1524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5B6B7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คิดค่าตามเงินเดือน ×1.5 (กฎหมายแรงงาน)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" y="3840480"/>
            <a:ext cx="10881360" cy="1691640"/>
          </a:xfrm>
          <a:prstGeom prst="roundRect">
            <a:avLst>
              <a:gd name="adj" fmla="val 6486"/>
            </a:avLst>
          </a:prstGeom>
          <a:solidFill>
            <a:srgbClr val="E8F1FC"/>
          </a:solidFill>
          <a:ln w="12700">
            <a:solidFill>
              <a:srgbClr val="DCE6F2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14400" y="402336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2A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💡 การส่ง OT เพื่ออนุมัติ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914400" y="4572000"/>
            <a:ext cx="178308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572000"/>
            <a:ext cx="1783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A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ครูออกงานสาย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2651760" y="4572000"/>
            <a:ext cx="457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32F2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›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3072384" y="4572000"/>
            <a:ext cx="178308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072384" y="4572000"/>
            <a:ext cx="1783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A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ระบบสร้าง OT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809744" y="4572000"/>
            <a:ext cx="457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32F2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›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5230368" y="4572000"/>
            <a:ext cx="178308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230368" y="4572000"/>
            <a:ext cx="1783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A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หัวหน้าครูอนุมัติ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967728" y="4572000"/>
            <a:ext cx="457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32F2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›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7388352" y="4572000"/>
            <a:ext cx="178308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7388352" y="4572000"/>
            <a:ext cx="1783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A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แอดมินยืนยัน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9125712" y="4572000"/>
            <a:ext cx="457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32F2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›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9546336" y="4572000"/>
            <a:ext cx="178308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1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9546336" y="4572000"/>
            <a:ext cx="1783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A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เข้าเงินเดือน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32F2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คุณครู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D2A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สมุดรายงานประจำวัน (ร่าง → ส่ง)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10881360" cy="1371600"/>
          </a:xfrm>
          <a:prstGeom prst="roundRect">
            <a:avLst>
              <a:gd name="adj" fmla="val 8000"/>
            </a:avLst>
          </a:prstGeom>
          <a:solidFill>
            <a:srgbClr val="E8F1FC"/>
          </a:solidFill>
          <a:ln w="12700">
            <a:solidFill>
              <a:srgbClr val="DCE6F2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96596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2A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บันทึกได้เรื่อย ๆ เป็น "ร่าง" ก่อน — แก้ไขได้ตลอด เมื่อพร้อมจึงกด "ส่งให้ผู้ปกครอง"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242316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หลังส่งแล้ว ผู้ปกครองได้รับแจ้งเตือนทันที และรายงานจะถูกล็อกกันแก้ไข (แอดมินปลดล็อกได้)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3429000"/>
            <a:ext cx="347472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920240" y="3703320"/>
            <a:ext cx="914400" cy="914400"/>
          </a:xfrm>
          <a:prstGeom prst="ellipse">
            <a:avLst/>
          </a:prstGeom>
          <a:solidFill>
            <a:srgbClr val="1565C0"/>
          </a:solidFill>
          <a:ln/>
          <a:effectLst>
            <a:outerShdw sx="100000" sy="100000" kx="0" ky="0" algn="bl" rotWithShape="0" blurRad="101600" dist="25400" dir="5400000">
              <a:srgbClr val="1B2A41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920240" y="37033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💾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822960" y="47091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บันทึกร่าง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4400" y="50749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7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กรอกไม่ครบก็ได้ · ผู้ปกครองยังไม่เห็น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343400" y="3429000"/>
            <a:ext cx="347472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623560" y="3703320"/>
            <a:ext cx="914400" cy="914400"/>
          </a:xfrm>
          <a:prstGeom prst="ellipse">
            <a:avLst/>
          </a:prstGeom>
          <a:solidFill>
            <a:srgbClr val="F4A72B"/>
          </a:solidFill>
          <a:ln/>
          <a:effectLst>
            <a:outerShdw sx="100000" sy="100000" kx="0" ky="0" algn="bl" rotWithShape="0" blurRad="101600" dist="25400" dir="5400000">
              <a:srgbClr val="1B2A41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623560" y="37033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✏️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4526280" y="47091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แก้ไข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617720" y="50749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7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เปิดกลับมาแก้ได้ตลอดจนกว่าจะส่ง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046720" y="3429000"/>
            <a:ext cx="347472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9326880" y="3703320"/>
            <a:ext cx="914400" cy="914400"/>
          </a:xfrm>
          <a:prstGeom prst="ellipse">
            <a:avLst/>
          </a:prstGeom>
          <a:solidFill>
            <a:srgbClr val="2E7D32"/>
          </a:solidFill>
          <a:ln/>
          <a:effectLst>
            <a:outerShdw sx="100000" sy="100000" kx="0" ky="0" algn="bl" rotWithShape="0" blurRad="101600" dist="25400" dir="5400000">
              <a:srgbClr val="1B2A41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326880" y="37033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📤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8229600" y="47091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ส่งให้ผู้ปกครอง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321040" y="50749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7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แจ้งเตือน + ล็อก + เห็นสถานะ "ส่งแล้ววันนี้"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32F2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คุณครู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D2A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ประเมิน DSPM &amp; บันทึกการเจริญเติบโต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5303520" cy="3657600"/>
          </a:xfrm>
          <a:prstGeom prst="roundRect">
            <a:avLst>
              <a:gd name="adj" fmla="val 3000"/>
            </a:avLst>
          </a:prstGeom>
          <a:solidFill>
            <a:srgbClr val="E8F1FC"/>
          </a:solidFill>
          <a:ln w="12700">
            <a:solidFill>
              <a:srgbClr val="DCE6F2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96112" y="2084832"/>
            <a:ext cx="658368" cy="658368"/>
          </a:xfrm>
          <a:prstGeom prst="ellipse">
            <a:avLst/>
          </a:prstGeom>
          <a:solidFill>
            <a:srgbClr val="1565C0"/>
          </a:solidFill>
          <a:ln/>
          <a:effectLst>
            <a:outerShdw sx="100000" sy="100000" kx="0" ky="0" algn="bl" rotWithShape="0" blurRad="101600" dist="25400" dir="5400000">
              <a:srgbClr val="1B2A41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96112" y="2084832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📝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691640" y="2048256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A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ประเมินพัฒนาการ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960120" y="2724912"/>
            <a:ext cx="4736592" cy="2633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5B6B7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เลือกเด็กจากชั้นเรียนที่รับผิดชอบ</a:t>
            </a:r>
            <a:endParaRPr lang="en-US" sz="1150" dirty="0"/>
          </a:p>
          <a:p>
            <a:pPr marL="152400" indent="-1524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5B6B7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ระบบจับคู่ช่วงอายุ → เกณฑ์ที่ต้องประเมิน</a:t>
            </a:r>
            <a:endParaRPr lang="en-US" sz="1150" dirty="0"/>
          </a:p>
          <a:p>
            <a:pPr marL="152400" indent="-1524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5B6B7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ผ่าน / ไม่ผ่าน / ยังไม่ได้ประเมิน</a:t>
            </a:r>
            <a:endParaRPr lang="en-US" sz="1150" dirty="0"/>
          </a:p>
          <a:p>
            <a:pPr marL="152400" indent="-1524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5B6B7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ดาวน์โหลดคู่มือ DSPM ประกอบได้</a:t>
            </a:r>
            <a:endParaRPr lang="en-US" sz="1150" dirty="0"/>
          </a:p>
          <a:p>
            <a:pPr marL="152400" indent="-1524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5B6B7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แจ้งผู้ปกครองอัตโนมัติ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989320" y="1828800"/>
            <a:ext cx="5303520" cy="3657600"/>
          </a:xfrm>
          <a:prstGeom prst="roundRect">
            <a:avLst>
              <a:gd name="adj" fmla="val 3000"/>
            </a:avLst>
          </a:prstGeom>
          <a:solidFill>
            <a:srgbClr val="FDECEA"/>
          </a:solidFill>
          <a:ln w="12700">
            <a:solidFill>
              <a:srgbClr val="DCE6F2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245352" y="2084832"/>
            <a:ext cx="658368" cy="658368"/>
          </a:xfrm>
          <a:prstGeom prst="ellipse">
            <a:avLst/>
          </a:prstGeom>
          <a:solidFill>
            <a:srgbClr val="D32F2F"/>
          </a:solidFill>
          <a:ln/>
          <a:effectLst>
            <a:outerShdw sx="100000" sy="100000" kx="0" ky="0" algn="bl" rotWithShape="0" blurRad="101600" dist="25400" dir="5400000">
              <a:srgbClr val="1B2A41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245352" y="2084832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📏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040880" y="2048256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A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น้ำหนัก · ส่วนสูง · รูปถ่าย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6309360" y="2724912"/>
            <a:ext cx="4736592" cy="2633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5B6B7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บันทึกน้ำหนักและส่วนสูงทุก 2 เดือน</a:t>
            </a:r>
            <a:endParaRPr lang="en-US" sz="1150" dirty="0"/>
          </a:p>
          <a:p>
            <a:pPr marL="152400" indent="-1524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5B6B7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แนบรูปพัฒนาการ (ระบบย่อรูปให้อัตโนมัติ)</a:t>
            </a:r>
            <a:endParaRPr lang="en-US" sz="1150" dirty="0"/>
          </a:p>
          <a:p>
            <a:pPr marL="152400" indent="-1524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5B6B7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กราฟเทียบเกณฑ์มาตรฐานทันที</a:t>
            </a:r>
            <a:endParaRPr lang="en-US" sz="1150" dirty="0"/>
          </a:p>
          <a:p>
            <a:pPr marL="152400" indent="-1524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5B6B7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เตือนเมื่อถึงรอบวัดครั้งต่อไป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32F2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คุณครู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D2A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เช็คอินแทน · อุบัติเหตุ · หลายชั้นเรียน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3520440" cy="3474720"/>
          </a:xfrm>
          <a:prstGeom prst="roundRect">
            <a:avLst>
              <a:gd name="adj" fmla="val 3158"/>
            </a:avLst>
          </a:prstGeom>
          <a:solidFill>
            <a:srgbClr val="E8F1FC"/>
          </a:solidFill>
          <a:ln w="12700">
            <a:solidFill>
              <a:srgbClr val="DCE6F2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96112" y="2084832"/>
            <a:ext cx="658368" cy="658368"/>
          </a:xfrm>
          <a:prstGeom prst="ellipse">
            <a:avLst/>
          </a:prstGeom>
          <a:solidFill>
            <a:srgbClr val="1565C0"/>
          </a:solidFill>
          <a:ln/>
          <a:effectLst>
            <a:outerShdw sx="100000" sy="100000" kx="0" ky="0" algn="bl" rotWithShape="0" blurRad="101600" dist="25400" dir="5400000">
              <a:srgbClr val="1B2A41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96112" y="2084832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📍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691640" y="2048256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A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เช็คอินแทน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960120" y="2724912"/>
            <a:ext cx="2953512" cy="2450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5B6B7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กรณีคนมารับ-ส่งไม่ใช่ผู้ปกครองในระบบ</a:t>
            </a:r>
            <a:endParaRPr lang="en-US" sz="1150" dirty="0"/>
          </a:p>
          <a:p>
            <a:pPr marL="152400" indent="-1524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5B6B7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บังคับระบุหมายเหตุว่าใครมารับ</a:t>
            </a:r>
            <a:endParaRPr lang="en-US" sz="1150" dirty="0"/>
          </a:p>
          <a:p>
            <a:pPr marL="152400" indent="-1524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5B6B7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แจ้งเตือนผู้ปกครองพร้อมชื่อครูที่บันทึก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43400" y="1828800"/>
            <a:ext cx="3520440" cy="3474720"/>
          </a:xfrm>
          <a:prstGeom prst="roundRect">
            <a:avLst>
              <a:gd name="adj" fmla="val 3158"/>
            </a:avLst>
          </a:prstGeom>
          <a:solidFill>
            <a:srgbClr val="FDECEA"/>
          </a:solidFill>
          <a:ln w="12700">
            <a:solidFill>
              <a:srgbClr val="DCE6F2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99432" y="2084832"/>
            <a:ext cx="658368" cy="658368"/>
          </a:xfrm>
          <a:prstGeom prst="ellipse">
            <a:avLst/>
          </a:prstGeom>
          <a:solidFill>
            <a:srgbClr val="D32F2F"/>
          </a:solidFill>
          <a:ln/>
          <a:effectLst>
            <a:outerShdw sx="100000" sy="100000" kx="0" ky="0" algn="bl" rotWithShape="0" blurRad="101600" dist="25400" dir="5400000">
              <a:srgbClr val="1B2A41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99432" y="2084832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🚑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394960" y="2048256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A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บันทึกอุบัติเหตุ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4663440" y="2724912"/>
            <a:ext cx="2953512" cy="2450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5B6B7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แบบฟอร์มบาดเจ็บรายบุคคล (ตามแบบราชการ)</a:t>
            </a:r>
            <a:endParaRPr lang="en-US" sz="1150" dirty="0"/>
          </a:p>
          <a:p>
            <a:pPr marL="152400" indent="-1524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5B6B7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17 ประเภทการบาดเจ็บมาตรฐาน</a:t>
            </a:r>
            <a:endParaRPr lang="en-US" sz="1150" dirty="0"/>
          </a:p>
          <a:p>
            <a:pPr marL="152400" indent="-1524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5B6B7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แจ้งเตือนหัวหน้าและแอดมินทันที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909560" y="1828800"/>
            <a:ext cx="3611880" cy="3474720"/>
          </a:xfrm>
          <a:prstGeom prst="roundRect">
            <a:avLst>
              <a:gd name="adj" fmla="val 3158"/>
            </a:avLst>
          </a:prstGeom>
          <a:solidFill>
            <a:srgbClr val="E8F1FC"/>
          </a:solidFill>
          <a:ln w="12700">
            <a:solidFill>
              <a:srgbClr val="DCE6F2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165592" y="2084832"/>
            <a:ext cx="658368" cy="658368"/>
          </a:xfrm>
          <a:prstGeom prst="ellipse">
            <a:avLst/>
          </a:prstGeom>
          <a:solidFill>
            <a:srgbClr val="2E7D32"/>
          </a:solidFill>
          <a:ln/>
          <a:effectLst>
            <a:outerShdw sx="100000" sy="100000" kx="0" ky="0" algn="bl" rotWithShape="0" blurRad="101600" dist="25400" dir="5400000">
              <a:srgbClr val="1B2A41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165592" y="2084832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👶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961120" y="2048256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A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หลายชั้นเรียน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8229600" y="2724912"/>
            <a:ext cx="3044952" cy="2450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5B6B7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ครูหนึ่งคนดูแลได้หลายชั้น/ทุกชั้น</a:t>
            </a:r>
            <a:endParaRPr lang="en-US" sz="1150" dirty="0"/>
          </a:p>
          <a:p>
            <a:pPr marL="152400" indent="-1524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5B6B7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มีปุ่มสลับชั้นเรียน</a:t>
            </a:r>
            <a:endParaRPr lang="en-US" sz="1150" dirty="0"/>
          </a:p>
          <a:p>
            <a:pPr marL="152400" indent="-1524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5B6B7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หัวหน้าครูเห็นทุกชั้นอัตโนมัติ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32F2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คุณครู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D2A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การลา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5120640" cy="3657600"/>
          </a:xfrm>
          <a:prstGeom prst="roundRect">
            <a:avLst>
              <a:gd name="adj" fmla="val 3000"/>
            </a:avLst>
          </a:prstGeom>
          <a:solidFill>
            <a:srgbClr val="E8F1FC"/>
          </a:solidFill>
          <a:ln w="12700">
            <a:solidFill>
              <a:srgbClr val="DCE6F2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20574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2A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📩 ยื่นใบลา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60120" y="2651760"/>
            <a:ext cx="45720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2A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เลือกประเภทลา ระบุวันและเหตุผล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2A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ดูสิทธิ์วันลาคงเหลือแต่ละประเภท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2A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ติดตามสถานะคำขอแบบเรียลไทม์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2A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ประวัติการลาย้อนหลังทั้งหมด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852160" y="1828800"/>
            <a:ext cx="5669280" cy="3657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126480" y="205740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32F2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ขั้นตอนการอนุมัติ (2 ชั้น)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172200" y="2743200"/>
            <a:ext cx="502920" cy="502920"/>
          </a:xfrm>
          <a:prstGeom prst="ellipse">
            <a:avLst/>
          </a:prstGeom>
          <a:solidFill>
            <a:srgbClr val="1565C0"/>
          </a:solidFill>
          <a:ln/>
          <a:effectLst>
            <a:outerShdw sx="100000" sy="100000" kx="0" ky="0" algn="bl" rotWithShape="0" blurRad="101600" dist="25400" dir="5400000">
              <a:srgbClr val="1B2A41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172200" y="2743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858000" y="274320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ครูยื่นใบลา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19088" y="3246120"/>
            <a:ext cx="0" cy="182880"/>
          </a:xfrm>
          <a:prstGeom prst="line">
            <a:avLst/>
          </a:prstGeom>
          <a:noFill/>
          <a:ln w="19050">
            <a:solidFill>
              <a:srgbClr val="5B6B7F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6172200" y="3429000"/>
            <a:ext cx="502920" cy="502920"/>
          </a:xfrm>
          <a:prstGeom prst="ellipse">
            <a:avLst/>
          </a:prstGeom>
          <a:solidFill>
            <a:srgbClr val="F4A72B"/>
          </a:solidFill>
          <a:ln/>
          <a:effectLst>
            <a:outerShdw sx="100000" sy="100000" kx="0" ky="0" algn="bl" rotWithShape="0" blurRad="101600" dist="25400" dir="5400000">
              <a:srgbClr val="1B2A41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172200" y="34290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858000" y="342900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หัวหน้าครูอนุมัติ (ชั้น 1)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19088" y="3931920"/>
            <a:ext cx="0" cy="182880"/>
          </a:xfrm>
          <a:prstGeom prst="line">
            <a:avLst/>
          </a:prstGeom>
          <a:noFill/>
          <a:ln w="19050">
            <a:solidFill>
              <a:srgbClr val="5B6B7F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6172200" y="4114800"/>
            <a:ext cx="502920" cy="502920"/>
          </a:xfrm>
          <a:prstGeom prst="ellipse">
            <a:avLst/>
          </a:prstGeom>
          <a:solidFill>
            <a:srgbClr val="2E7D32"/>
          </a:solidFill>
          <a:ln/>
          <a:effectLst>
            <a:outerShdw sx="100000" sy="100000" kx="0" ky="0" algn="bl" rotWithShape="0" blurRad="101600" dist="25400" dir="5400000">
              <a:srgbClr val="1B2A41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172200" y="4114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858000" y="411480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แอดมินอนุมัติ (ชั้น 2)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419088" y="4617720"/>
            <a:ext cx="0" cy="182880"/>
          </a:xfrm>
          <a:prstGeom prst="line">
            <a:avLst/>
          </a:prstGeom>
          <a:noFill/>
          <a:ln w="19050">
            <a:solidFill>
              <a:srgbClr val="5B6B7F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6172200" y="4800600"/>
            <a:ext cx="502920" cy="502920"/>
          </a:xfrm>
          <a:prstGeom prst="ellipse">
            <a:avLst/>
          </a:prstGeom>
          <a:solidFill>
            <a:srgbClr val="0D2A5E"/>
          </a:solidFill>
          <a:ln/>
          <a:effectLst>
            <a:outerShdw sx="100000" sy="100000" kx="0" ky="0" algn="bl" rotWithShape="0" blurRad="101600" dist="25400" dir="5400000">
              <a:srgbClr val="1B2A41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172200" y="4800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858000" y="480060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อนุมัติสมบูรณ์ · แจ้งเตือนครู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2A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2872" y="-1463040"/>
            <a:ext cx="4023360" cy="4023360"/>
          </a:xfrm>
          <a:prstGeom prst="ellipse">
            <a:avLst/>
          </a:prstGeom>
          <a:solidFill>
            <a:srgbClr val="1565C0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51592" y="4846320"/>
            <a:ext cx="2926080" cy="2926080"/>
          </a:xfrm>
          <a:prstGeom prst="ellipse">
            <a:avLst/>
          </a:prstGeom>
          <a:solidFill>
            <a:srgbClr val="F4A72B">
              <a:alpha val="2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554480"/>
            <a:ext cx="2743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0" b="1" dirty="0">
                <a:solidFill>
                  <a:srgbClr val="F4A7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03</a:t>
            </a:r>
            <a:endParaRPr lang="en-US" sz="7800" dirty="0"/>
          </a:p>
        </p:txBody>
      </p:sp>
      <p:sp>
        <p:nvSpPr>
          <p:cNvPr id="5" name="Text 3"/>
          <p:cNvSpPr/>
          <p:nvPr/>
        </p:nvSpPr>
        <p:spPr>
          <a:xfrm>
            <a:off x="868680" y="288036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สำหรับหัวหน้าครู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914400" y="388620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BD9E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สิทธิ์เท่าคุณครู + อนุมัติการลาและ OT ของทีม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14400" y="47091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A7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⭐ บทบาท: หัวหน้าครู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32F2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หัวหน้าครู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D2A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อนุมัติการลา &amp; OT ของทีม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5303520" cy="3657600"/>
          </a:xfrm>
          <a:prstGeom prst="roundRect">
            <a:avLst>
              <a:gd name="adj" fmla="val 3000"/>
            </a:avLst>
          </a:prstGeom>
          <a:solidFill>
            <a:srgbClr val="E8F1FC"/>
          </a:solidFill>
          <a:ln w="12700">
            <a:solidFill>
              <a:srgbClr val="DCE6F2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96112" y="2084832"/>
            <a:ext cx="658368" cy="658368"/>
          </a:xfrm>
          <a:prstGeom prst="ellipse">
            <a:avLst/>
          </a:prstGeom>
          <a:solidFill>
            <a:srgbClr val="1565C0"/>
          </a:solidFill>
          <a:ln/>
          <a:effectLst>
            <a:outerShdw sx="100000" sy="100000" kx="0" ky="0" algn="bl" rotWithShape="0" blurRad="101600" dist="25400" dir="5400000">
              <a:srgbClr val="1B2A41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96112" y="2084832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📩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691640" y="2048256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A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อนุมัติการลา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960120" y="2724912"/>
            <a:ext cx="4736592" cy="2633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5B6B7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เห็นคำขอลาของลูกน้องที่หน้าแรก</a:t>
            </a:r>
            <a:endParaRPr lang="en-US" sz="1150" dirty="0"/>
          </a:p>
          <a:p>
            <a:pPr marL="152400" indent="-1524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5B6B7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กดอนุมัติ ✔ หรือ ปฏิเสธ ✕</a:t>
            </a:r>
            <a:endParaRPr lang="en-US" sz="1150" dirty="0"/>
          </a:p>
          <a:p>
            <a:pPr marL="152400" indent="-1524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5B6B7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เป็นการอนุมัติชั้นที่ 1 ก่อนถึงแอดมิน</a:t>
            </a:r>
            <a:endParaRPr lang="en-US" sz="1150" dirty="0"/>
          </a:p>
          <a:p>
            <a:pPr marL="152400" indent="-1524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5B6B7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รองรับการลาข้ามแผนก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989320" y="1828800"/>
            <a:ext cx="5303520" cy="3657600"/>
          </a:xfrm>
          <a:prstGeom prst="roundRect">
            <a:avLst>
              <a:gd name="adj" fmla="val 3000"/>
            </a:avLst>
          </a:prstGeom>
          <a:solidFill>
            <a:srgbClr val="FDECEA"/>
          </a:solidFill>
          <a:ln w="12700">
            <a:solidFill>
              <a:srgbClr val="DCE6F2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245352" y="2084832"/>
            <a:ext cx="658368" cy="658368"/>
          </a:xfrm>
          <a:prstGeom prst="ellipse">
            <a:avLst/>
          </a:prstGeom>
          <a:solidFill>
            <a:srgbClr val="D32F2F"/>
          </a:solidFill>
          <a:ln/>
          <a:effectLst>
            <a:outerShdw sx="100000" sy="100000" kx="0" ky="0" algn="bl" rotWithShape="0" blurRad="101600" dist="25400" dir="5400000">
              <a:srgbClr val="1B2A41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245352" y="2084832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⏰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040880" y="2048256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A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อนุมัติ OT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6309360" y="2724912"/>
            <a:ext cx="4736592" cy="2633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5B6B7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เห็น OT ที่ครูส่งมาพร้อมเวลาจริง</a:t>
            </a:r>
            <a:endParaRPr lang="en-US" sz="1150" dirty="0"/>
          </a:p>
          <a:p>
            <a:pPr marL="152400" indent="-1524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5B6B7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ตรวจความถูกต้องก่อนอนุมัติ</a:t>
            </a:r>
            <a:endParaRPr lang="en-US" sz="1150" dirty="0"/>
          </a:p>
          <a:p>
            <a:pPr marL="152400" indent="-1524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5B6B7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อนุมัติแล้วส่งต่อแอดมินยืนยัน</a:t>
            </a:r>
            <a:endParaRPr lang="en-US" sz="1150" dirty="0"/>
          </a:p>
          <a:p>
            <a:pPr marL="152400" indent="-1524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5B6B7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OT ของหัวหน้าเองข้ามไปที่แอดมินเลย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40080" y="562356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565C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หัวหน้าครูใช้งานทุกอย่างเหมือนคุณครู และมีเมนูอนุมัติเพิ่มขึ้นมา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2A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2872" y="-1463040"/>
            <a:ext cx="4023360" cy="4023360"/>
          </a:xfrm>
          <a:prstGeom prst="ellipse">
            <a:avLst/>
          </a:prstGeom>
          <a:solidFill>
            <a:srgbClr val="1565C0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51592" y="4846320"/>
            <a:ext cx="2926080" cy="2926080"/>
          </a:xfrm>
          <a:prstGeom prst="ellipse">
            <a:avLst/>
          </a:prstGeom>
          <a:solidFill>
            <a:srgbClr val="2E7D32">
              <a:alpha val="2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554480"/>
            <a:ext cx="2743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0" b="1" dirty="0">
                <a:solidFill>
                  <a:srgbClr val="2E7D3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04</a:t>
            </a:r>
            <a:endParaRPr lang="en-US" sz="7800" dirty="0"/>
          </a:p>
        </p:txBody>
      </p:sp>
      <p:sp>
        <p:nvSpPr>
          <p:cNvPr id="5" name="Text 3"/>
          <p:cNvSpPr/>
          <p:nvPr/>
        </p:nvSpPr>
        <p:spPr>
          <a:xfrm>
            <a:off x="868680" y="288036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สำหรับผู้ดูแลระบบ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914400" y="388620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BD9E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แดชบอร์ด · จัดการข้อมูล · การเงิน · เงินเดือน · รายงาน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14400" y="47091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A7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🛡️ บทบาท: Admin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32F2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ผู้ดูแลระบบ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D2A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แดชบอร์ดภาพรวมประจำวัน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530352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96112" y="2084832"/>
            <a:ext cx="658368" cy="658368"/>
          </a:xfrm>
          <a:prstGeom prst="ellipse">
            <a:avLst/>
          </a:prstGeom>
          <a:solidFill>
            <a:srgbClr val="1565C0"/>
          </a:solidFill>
          <a:ln/>
          <a:effectLst>
            <a:outerShdw sx="100000" sy="100000" kx="0" ky="0" algn="bl" rotWithShape="0" blurRad="101600" dist="25400" dir="5400000">
              <a:srgbClr val="1B2A41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96112" y="2084832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👶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691640" y="2048256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A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การมาเรียนแต่ละชั้น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960120" y="2724912"/>
            <a:ext cx="4736592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5B6B7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% การมาเรียนรวมและแยกแต่ละชั้น</a:t>
            </a:r>
            <a:endParaRPr lang="en-US" sz="1150" dirty="0"/>
          </a:p>
          <a:p>
            <a:pPr marL="152400" indent="-1524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5B6B7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แสดงสถานะ: ✅ มา · 🌴 ลา · ⛔ ขาด</a:t>
            </a:r>
            <a:endParaRPr lang="en-US" sz="1150" dirty="0"/>
          </a:p>
          <a:p>
            <a:pPr marL="152400" indent="-1524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5B6B7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ครบทุกแผนก (Nursery Baby–Premium)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989320" y="1828800"/>
            <a:ext cx="530352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245352" y="2084832"/>
            <a:ext cx="658368" cy="658368"/>
          </a:xfrm>
          <a:prstGeom prst="ellipse">
            <a:avLst/>
          </a:prstGeom>
          <a:solidFill>
            <a:srgbClr val="D32F2F"/>
          </a:solidFill>
          <a:ln/>
          <a:effectLst>
            <a:outerShdw sx="100000" sy="100000" kx="0" ky="0" algn="bl" rotWithShape="0" blurRad="101600" dist="25400" dir="5400000">
              <a:srgbClr val="1B2A41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245352" y="2084832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👩‍🏫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040880" y="2048256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A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พนักงานวันนี้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6309360" y="2724912"/>
            <a:ext cx="4736592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5B6B7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✅ ตรงเวลา · ⏰ มาสาย · ⛔ ขาด/ลา</a:t>
            </a:r>
            <a:endParaRPr lang="en-US" sz="1150" dirty="0"/>
          </a:p>
          <a:p>
            <a:pPr marL="152400" indent="-1524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5B6B7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แสดงชื่อเล่นและเวลาเข้างาน</a:t>
            </a:r>
            <a:endParaRPr lang="en-US" sz="1150" dirty="0"/>
          </a:p>
          <a:p>
            <a:pPr marL="152400" indent="-1524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5B6B7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% การมาทำงานของทีม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" y="3794760"/>
            <a:ext cx="530352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96112" y="4050792"/>
            <a:ext cx="658368" cy="658368"/>
          </a:xfrm>
          <a:prstGeom prst="ellipse">
            <a:avLst/>
          </a:prstGeom>
          <a:solidFill>
            <a:srgbClr val="F4A72B"/>
          </a:solidFill>
          <a:ln/>
          <a:effectLst>
            <a:outerShdw sx="100000" sy="100000" kx="0" ky="0" algn="bl" rotWithShape="0" blurRad="101600" dist="25400" dir="5400000">
              <a:srgbClr val="1B2A41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96112" y="4050792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👁️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691640" y="4014216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A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มุมมองแทน (View as)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960120" y="4690872"/>
            <a:ext cx="4736592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5B6B7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ดูแอปในมุมมองของครูหรือผู้ปกครอง</a:t>
            </a:r>
            <a:endParaRPr lang="en-US" sz="1150" dirty="0"/>
          </a:p>
          <a:p>
            <a:pPr marL="152400" indent="-1524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5B6B7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ช่วยตรวจสอบและสอนการใช้งาน</a:t>
            </a:r>
            <a:endParaRPr lang="en-US" sz="1150" dirty="0"/>
          </a:p>
          <a:p>
            <a:pPr marL="152400" indent="-1524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5B6B7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กลับเป็นแอดมินได้ทันที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989320" y="3794760"/>
            <a:ext cx="530352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245352" y="4050792"/>
            <a:ext cx="658368" cy="658368"/>
          </a:xfrm>
          <a:prstGeom prst="ellipse">
            <a:avLst/>
          </a:prstGeom>
          <a:solidFill>
            <a:srgbClr val="2E7D32"/>
          </a:solidFill>
          <a:ln/>
          <a:effectLst>
            <a:outerShdw sx="100000" sy="100000" kx="0" ky="0" algn="bl" rotWithShape="0" blurRad="101600" dist="25400" dir="5400000">
              <a:srgbClr val="1B2A41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245352" y="4050792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📢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7040880" y="4014216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A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ประกาศ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6309360" y="4690872"/>
            <a:ext cx="4736592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5B6B7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สร้างประกาศ + แนบรูป</a:t>
            </a:r>
            <a:endParaRPr lang="en-US" sz="1150" dirty="0"/>
          </a:p>
          <a:p>
            <a:pPr marL="152400" indent="-1524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5B6B7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ตั้งให้เด้งเตือนก่อนเช็คอิน</a:t>
            </a:r>
            <a:endParaRPr lang="en-US" sz="1150" dirty="0"/>
          </a:p>
          <a:p>
            <a:pPr marL="152400" indent="-1524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5B6B7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กำหนดช่วงวันที่แสดง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32F2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ผู้ดูแลระบบ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D2A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จัดการข้อมูล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347472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96112" y="2130552"/>
            <a:ext cx="621792" cy="621792"/>
          </a:xfrm>
          <a:prstGeom prst="ellipse">
            <a:avLst/>
          </a:prstGeom>
          <a:solidFill>
            <a:srgbClr val="1565C0"/>
          </a:solidFill>
          <a:ln/>
          <a:effectLst>
            <a:outerShdw sx="100000" sy="100000" kx="0" ky="0" algn="bl" rotWithShape="0" blurRad="101600" dist="25400" dir="5400000">
              <a:srgbClr val="1B2A41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96112" y="2130552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👶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645920" y="2130552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นักเรียน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932688" y="274320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เพิ่ม/แก้ไข · ชั้นเรียน แพ็กเกจ ประกัน วัคซีน · นำเข้า/ออก Excel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43400" y="1874520"/>
            <a:ext cx="347472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99432" y="2130552"/>
            <a:ext cx="621792" cy="621792"/>
          </a:xfrm>
          <a:prstGeom prst="ellipse">
            <a:avLst/>
          </a:prstGeom>
          <a:solidFill>
            <a:srgbClr val="1E88E5"/>
          </a:solidFill>
          <a:ln/>
          <a:effectLst>
            <a:outerShdw sx="100000" sy="100000" kx="0" ky="0" algn="bl" rotWithShape="0" blurRad="101600" dist="25400" dir="5400000">
              <a:srgbClr val="1B2A41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99432" y="2130552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👪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5349240" y="2130552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ผู้ปกครอง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4636008" y="274320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ข้อมูลติดต่อ ความสัมพันธ์ คำนำหน้า ชื่อเล่น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046720" y="1874520"/>
            <a:ext cx="347472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302752" y="2130552"/>
            <a:ext cx="621792" cy="621792"/>
          </a:xfrm>
          <a:prstGeom prst="ellipse">
            <a:avLst/>
          </a:prstGeom>
          <a:solidFill>
            <a:srgbClr val="D32F2F"/>
          </a:solidFill>
          <a:ln/>
          <a:effectLst>
            <a:outerShdw sx="100000" sy="100000" kx="0" ky="0" algn="bl" rotWithShape="0" blurRad="101600" dist="25400" dir="5400000">
              <a:srgbClr val="1B2A41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302752" y="2130552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👩‍🏫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9052560" y="2130552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พนักงาน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8339328" y="274320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ตำแหน่ง แผนก กลุ่มงาน ชั้นที่รับผิดชอบ LINE ID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3703320"/>
            <a:ext cx="347472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96112" y="3959352"/>
            <a:ext cx="621792" cy="621792"/>
          </a:xfrm>
          <a:prstGeom prst="ellipse">
            <a:avLst/>
          </a:prstGeom>
          <a:solidFill>
            <a:srgbClr val="F4A72B"/>
          </a:solidFill>
          <a:ln/>
          <a:effectLst>
            <a:outerShdw sx="100000" sy="100000" kx="0" ky="0" algn="bl" rotWithShape="0" blurRad="101600" dist="25400" dir="5400000">
              <a:srgbClr val="1B2A41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96112" y="3959352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🏫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1645920" y="3959352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แผนก &amp; ชั้นเรียน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932688" y="457200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จัดแผนก (Nursery) · ดูครูในแต่ละแผนก · ย้ายเด็ก/ครู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343400" y="3703320"/>
            <a:ext cx="347472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99432" y="3959352"/>
            <a:ext cx="621792" cy="621792"/>
          </a:xfrm>
          <a:prstGeom prst="ellipse">
            <a:avLst/>
          </a:prstGeom>
          <a:solidFill>
            <a:srgbClr val="2E7D32"/>
          </a:solidFill>
          <a:ln/>
          <a:effectLst>
            <a:outerShdw sx="100000" sy="100000" kx="0" ky="0" algn="bl" rotWithShape="0" blurRad="101600" dist="25400" dir="5400000">
              <a:srgbClr val="1B2A41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599432" y="3959352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🕑</a:t>
            </a:r>
            <a:endParaRPr lang="en-US" sz="1900" dirty="0"/>
          </a:p>
        </p:txBody>
      </p:sp>
      <p:sp>
        <p:nvSpPr>
          <p:cNvPr id="28" name="Text 26"/>
          <p:cNvSpPr/>
          <p:nvPr/>
        </p:nvSpPr>
        <p:spPr>
          <a:xfrm>
            <a:off x="5349240" y="3959352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กลุ่มงาน &amp; วันหยุด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4636008" y="457200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เวลาเข้า-ออกแต่ละกลุ่ม · ปฏิทินวันหยุด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046720" y="3703320"/>
            <a:ext cx="347472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302752" y="3959352"/>
            <a:ext cx="621792" cy="621792"/>
          </a:xfrm>
          <a:prstGeom prst="ellipse">
            <a:avLst/>
          </a:prstGeom>
          <a:solidFill>
            <a:srgbClr val="0D2A5E"/>
          </a:solidFill>
          <a:ln/>
          <a:effectLst>
            <a:outerShdw sx="100000" sy="100000" kx="0" ky="0" algn="bl" rotWithShape="0" blurRad="101600" dist="25400" dir="5400000">
              <a:srgbClr val="1B2A41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8302752" y="3959352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📤</a:t>
            </a:r>
            <a:endParaRPr lang="en-US" sz="1900" dirty="0"/>
          </a:p>
        </p:txBody>
      </p:sp>
      <p:sp>
        <p:nvSpPr>
          <p:cNvPr id="33" name="Text 31"/>
          <p:cNvSpPr/>
          <p:nvPr/>
        </p:nvSpPr>
        <p:spPr>
          <a:xfrm>
            <a:off x="9052560" y="3959352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นำเข้า/นำออก</a:t>
            </a:r>
            <a:endParaRPr lang="en-US" sz="1450" dirty="0"/>
          </a:p>
        </p:txBody>
      </p:sp>
      <p:sp>
        <p:nvSpPr>
          <p:cNvPr id="34" name="Text 32"/>
          <p:cNvSpPr/>
          <p:nvPr/>
        </p:nvSpPr>
        <p:spPr>
          <a:xfrm>
            <a:off x="8339328" y="457200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นำเข้าจาก Excel · นำนักเรียนออก (ถอน/ย้าย)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32F2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ผู้ดูแลระบบ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D2A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การเงิน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3520440" cy="3520440"/>
          </a:xfrm>
          <a:prstGeom prst="roundRect">
            <a:avLst>
              <a:gd name="adj" fmla="val 3117"/>
            </a:avLst>
          </a:prstGeom>
          <a:solidFill>
            <a:srgbClr val="E8F1FC"/>
          </a:solidFill>
          <a:ln w="12700">
            <a:solidFill>
              <a:srgbClr val="DCE6F2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96112" y="2084832"/>
            <a:ext cx="658368" cy="658368"/>
          </a:xfrm>
          <a:prstGeom prst="ellipse">
            <a:avLst/>
          </a:prstGeom>
          <a:solidFill>
            <a:srgbClr val="1565C0"/>
          </a:solidFill>
          <a:ln/>
          <a:effectLst>
            <a:outerShdw sx="100000" sy="100000" kx="0" ky="0" algn="bl" rotWithShape="0" blurRad="101600" dist="25400" dir="5400000">
              <a:srgbClr val="1B2A41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96112" y="2084832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🧾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691640" y="2048256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A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ออกบิล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960120" y="2724912"/>
            <a:ext cx="2953512" cy="2496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5B6B7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ออกบิลรายเดือนอัตโนมัติทุกคน</a:t>
            </a:r>
            <a:endParaRPr lang="en-US" sz="1150" dirty="0"/>
          </a:p>
          <a:p>
            <a:pPr marL="152400" indent="-1524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5B6B7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ออกบิลเฉพาะรายพร้อมยอดกำหนดเอง</a:t>
            </a:r>
            <a:endParaRPr lang="en-US" sz="1150" dirty="0"/>
          </a:p>
          <a:p>
            <a:pPr marL="152400" indent="-1524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5B6B7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จ่ายล่วงหน้า/ค่าใช้จ่ายเพิ่มเติม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43400" y="1828800"/>
            <a:ext cx="3520440" cy="3520440"/>
          </a:xfrm>
          <a:prstGeom prst="roundRect">
            <a:avLst>
              <a:gd name="adj" fmla="val 3117"/>
            </a:avLst>
          </a:prstGeom>
          <a:solidFill>
            <a:srgbClr val="FDECEA"/>
          </a:solidFill>
          <a:ln w="12700">
            <a:solidFill>
              <a:srgbClr val="DCE6F2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99432" y="2084832"/>
            <a:ext cx="658368" cy="658368"/>
          </a:xfrm>
          <a:prstGeom prst="ellipse">
            <a:avLst/>
          </a:prstGeom>
          <a:solidFill>
            <a:srgbClr val="D32F2F"/>
          </a:solidFill>
          <a:ln/>
          <a:effectLst>
            <a:outerShdw sx="100000" sy="100000" kx="0" ky="0" algn="bl" rotWithShape="0" blurRad="101600" dist="25400" dir="5400000">
              <a:srgbClr val="1B2A41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99432" y="2084832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✅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394960" y="2048256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A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ตรวจสลิป &amp; ยืนยัน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4663440" y="2724912"/>
            <a:ext cx="2953512" cy="2496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5B6B7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เห็นรูปสลิปจริง + ผล SlipOK</a:t>
            </a:r>
            <a:endParaRPr lang="en-US" sz="1150" dirty="0"/>
          </a:p>
          <a:p>
            <a:pPr marL="152400" indent="-1524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5B6B7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ยืนยันทีละสลิป · รองรับจ่ายบางส่วน</a:t>
            </a:r>
            <a:endParaRPr lang="en-US" sz="1150" dirty="0"/>
          </a:p>
          <a:p>
            <a:pPr marL="152400" indent="-1524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5B6B7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สลิปผิดจะไม่ขึ้น "จ่ายแล้ว"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909560" y="1828800"/>
            <a:ext cx="3611880" cy="3520440"/>
          </a:xfrm>
          <a:prstGeom prst="roundRect">
            <a:avLst>
              <a:gd name="adj" fmla="val 3117"/>
            </a:avLst>
          </a:prstGeom>
          <a:solidFill>
            <a:srgbClr val="E8F1FC"/>
          </a:solidFill>
          <a:ln w="12700">
            <a:solidFill>
              <a:srgbClr val="DCE6F2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165592" y="2084832"/>
            <a:ext cx="658368" cy="658368"/>
          </a:xfrm>
          <a:prstGeom prst="ellipse">
            <a:avLst/>
          </a:prstGeom>
          <a:solidFill>
            <a:srgbClr val="2E7D32"/>
          </a:solidFill>
          <a:ln/>
          <a:effectLst>
            <a:outerShdw sx="100000" sy="100000" kx="0" ky="0" algn="bl" rotWithShape="0" blurRad="101600" dist="25400" dir="5400000">
              <a:srgbClr val="1B2A41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165592" y="2084832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💰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961120" y="2048256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A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สรุปการเงิน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8229600" y="2724912"/>
            <a:ext cx="3044952" cy="2496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5B6B7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รายรับ/ค้างชำระรายเดือน</a:t>
            </a:r>
            <a:endParaRPr lang="en-US" sz="1150" dirty="0"/>
          </a:p>
          <a:p>
            <a:pPr marL="152400" indent="-1524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5B6B7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จัดการ OT รับช้าของนักเรียน</a:t>
            </a:r>
            <a:endParaRPr lang="en-US" sz="1150" dirty="0"/>
          </a:p>
          <a:p>
            <a:pPr marL="152400" indent="-1524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5B6B7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ลบบิลซ้ำ/แก้ไขได้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32F2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ผู้ดูแลระบบ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D2A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เงินเดือน · OT · Big Cleaning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3520440" cy="3566160"/>
          </a:xfrm>
          <a:prstGeom prst="roundRect">
            <a:avLst>
              <a:gd name="adj" fmla="val 3117"/>
            </a:avLst>
          </a:prstGeom>
          <a:solidFill>
            <a:srgbClr val="E8F1FC"/>
          </a:solidFill>
          <a:ln w="12700">
            <a:solidFill>
              <a:srgbClr val="DCE6F2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96112" y="2084832"/>
            <a:ext cx="658368" cy="658368"/>
          </a:xfrm>
          <a:prstGeom prst="ellipse">
            <a:avLst/>
          </a:prstGeom>
          <a:solidFill>
            <a:srgbClr val="1565C0"/>
          </a:solidFill>
          <a:ln/>
          <a:effectLst>
            <a:outerShdw sx="100000" sy="100000" kx="0" ky="0" algn="bl" rotWithShape="0" blurRad="101600" dist="25400" dir="5400000">
              <a:srgbClr val="1B2A41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96112" y="2084832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💵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691640" y="2048256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A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เงินเดือน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960120" y="2724912"/>
            <a:ext cx="2953512" cy="2542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5B6B7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คิดเงินเดือน + เบี้ยขยัน + OT</a:t>
            </a:r>
            <a:endParaRPr lang="en-US" sz="1150" dirty="0"/>
          </a:p>
          <a:p>
            <a:pPr marL="152400" indent="-1524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5B6B7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หักประกันสังคม อัตโนมัติ</a:t>
            </a:r>
            <a:endParaRPr lang="en-US" sz="1150" dirty="0"/>
          </a:p>
          <a:p>
            <a:pPr marL="152400" indent="-1524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5B6B7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พิมพ์สลิปเงินเดือน 3 ใบ/A4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43400" y="1828800"/>
            <a:ext cx="3520440" cy="3566160"/>
          </a:xfrm>
          <a:prstGeom prst="roundRect">
            <a:avLst>
              <a:gd name="adj" fmla="val 3117"/>
            </a:avLst>
          </a:prstGeom>
          <a:solidFill>
            <a:srgbClr val="FDECEA"/>
          </a:solidFill>
          <a:ln w="12700">
            <a:solidFill>
              <a:srgbClr val="DCE6F2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99432" y="2084832"/>
            <a:ext cx="658368" cy="658368"/>
          </a:xfrm>
          <a:prstGeom prst="ellipse">
            <a:avLst/>
          </a:prstGeom>
          <a:solidFill>
            <a:srgbClr val="D32F2F"/>
          </a:solidFill>
          <a:ln/>
          <a:effectLst>
            <a:outerShdw sx="100000" sy="100000" kx="0" ky="0" algn="bl" rotWithShape="0" blurRad="101600" dist="25400" dir="5400000">
              <a:srgbClr val="1B2A41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99432" y="2084832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⏰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394960" y="2048256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A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จัดการ OT คุณครู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4663440" y="2724912"/>
            <a:ext cx="2953512" cy="2542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5B6B7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ยืนยัน OT ที่รออนุมัติ (แก้ชั่วโมง/ยอดได้)</a:t>
            </a:r>
            <a:endParaRPr lang="en-US" sz="1150" dirty="0"/>
          </a:p>
          <a:p>
            <a:pPr marL="152400" indent="-1524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5B6B7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เพิ่ม/แก้ไข/ลบ OT ได้ทุกรายการ</a:t>
            </a:r>
            <a:endParaRPr lang="en-US" sz="1150" dirty="0"/>
          </a:p>
          <a:p>
            <a:pPr marL="152400" indent="-1524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5B6B7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เฉพาะที่อนุมัติแล้วเข้าเงินเดือน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909560" y="1828800"/>
            <a:ext cx="3611880" cy="3566160"/>
          </a:xfrm>
          <a:prstGeom prst="roundRect">
            <a:avLst>
              <a:gd name="adj" fmla="val 3077"/>
            </a:avLst>
          </a:prstGeom>
          <a:solidFill>
            <a:srgbClr val="E8F1FC"/>
          </a:solidFill>
          <a:ln w="12700">
            <a:solidFill>
              <a:srgbClr val="DCE6F2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165592" y="2084832"/>
            <a:ext cx="658368" cy="658368"/>
          </a:xfrm>
          <a:prstGeom prst="ellipse">
            <a:avLst/>
          </a:prstGeom>
          <a:solidFill>
            <a:srgbClr val="2E7D32"/>
          </a:solidFill>
          <a:ln/>
          <a:effectLst>
            <a:outerShdw sx="100000" sy="100000" kx="0" ky="0" algn="bl" rotWithShape="0" blurRad="101600" dist="25400" dir="5400000">
              <a:srgbClr val="1B2A41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165592" y="2084832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🧹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961120" y="2048256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A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Big Cleaning Day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8229600" y="2724912"/>
            <a:ext cx="3044952" cy="2542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5B6B7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กำหนดวันทำความสะอาดประจำเดือน</a:t>
            </a:r>
            <a:endParaRPr lang="en-US" sz="1150" dirty="0"/>
          </a:p>
          <a:p>
            <a:pPr marL="152400" indent="-1524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5B6B7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เป็นวันทำงาน แต่ไม่กำหนดเวลาเข้า-ออก</a:t>
            </a:r>
            <a:endParaRPr lang="en-US" sz="1150" dirty="0"/>
          </a:p>
          <a:p>
            <a:pPr marL="152400" indent="-1524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5B6B7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มาทำงาน = ได้เบี้ยขยันเพิ่ม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32F2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ผู้ดูแลระบบ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D2A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สมุดรายงาน · ตั้งค่า · สำรองข้อมูล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3520440" cy="3383280"/>
          </a:xfrm>
          <a:prstGeom prst="roundRect">
            <a:avLst>
              <a:gd name="adj" fmla="val 3243"/>
            </a:avLst>
          </a:prstGeom>
          <a:solidFill>
            <a:srgbClr val="E8F1FC"/>
          </a:solidFill>
          <a:ln w="12700">
            <a:solidFill>
              <a:srgbClr val="DCE6F2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96112" y="2084832"/>
            <a:ext cx="658368" cy="658368"/>
          </a:xfrm>
          <a:prstGeom prst="ellipse">
            <a:avLst/>
          </a:prstGeom>
          <a:solidFill>
            <a:srgbClr val="1565C0"/>
          </a:solidFill>
          <a:ln/>
          <a:effectLst>
            <a:outerShdw sx="100000" sy="100000" kx="0" ky="0" algn="bl" rotWithShape="0" blurRad="101600" dist="25400" dir="5400000">
              <a:srgbClr val="1B2A41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96112" y="2084832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📒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691640" y="2048256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A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สมุดรายงานประจำวัน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960120" y="2724912"/>
            <a:ext cx="2953512" cy="2359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5B6B7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ดูรายงานทุกคนรายวัน</a:t>
            </a:r>
            <a:endParaRPr lang="en-US" sz="1150" dirty="0"/>
          </a:p>
          <a:p>
            <a:pPr marL="152400" indent="-1524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5B6B7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ปลดล็อกรายงานที่ส่งแล้วเพื่อแก้ไข</a:t>
            </a:r>
            <a:endParaRPr lang="en-US" sz="1150" dirty="0"/>
          </a:p>
          <a:p>
            <a:pPr marL="152400" indent="-1524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5B6B7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ปลดล็อกแล้วผู้ปกครองไม่เห็นจนส่งใหม่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43400" y="1828800"/>
            <a:ext cx="3520440" cy="3383280"/>
          </a:xfrm>
          <a:prstGeom prst="roundRect">
            <a:avLst>
              <a:gd name="adj" fmla="val 3243"/>
            </a:avLst>
          </a:prstGeom>
          <a:solidFill>
            <a:srgbClr val="FDECEA"/>
          </a:solidFill>
          <a:ln w="12700">
            <a:solidFill>
              <a:srgbClr val="DCE6F2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99432" y="2084832"/>
            <a:ext cx="658368" cy="658368"/>
          </a:xfrm>
          <a:prstGeom prst="ellipse">
            <a:avLst/>
          </a:prstGeom>
          <a:solidFill>
            <a:srgbClr val="D32F2F"/>
          </a:solidFill>
          <a:ln/>
          <a:effectLst>
            <a:outerShdw sx="100000" sy="100000" kx="0" ky="0" algn="bl" rotWithShape="0" blurRad="101600" dist="25400" dir="5400000">
              <a:srgbClr val="1B2A41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99432" y="2084832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⚙️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394960" y="2048256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A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ตั้งค่าระบบ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4663440" y="2724912"/>
            <a:ext cx="2953512" cy="2359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5B6B7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พิกัด GPS + รัศมีเช็คอิน</a:t>
            </a:r>
            <a:endParaRPr lang="en-US" sz="1150" dirty="0"/>
          </a:p>
          <a:p>
            <a:pPr marL="152400" indent="-1524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5B6B7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เบี้ยขยัน สิทธิ์วันลา อัตรา OT</a:t>
            </a:r>
            <a:endParaRPr lang="en-US" sz="1150" dirty="0"/>
          </a:p>
          <a:p>
            <a:pPr marL="152400" indent="-1524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5B6B7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วัน Big Cleaning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909560" y="1828800"/>
            <a:ext cx="3611880" cy="3383280"/>
          </a:xfrm>
          <a:prstGeom prst="roundRect">
            <a:avLst>
              <a:gd name="adj" fmla="val 3243"/>
            </a:avLst>
          </a:prstGeom>
          <a:solidFill>
            <a:srgbClr val="E8F1FC"/>
          </a:solidFill>
          <a:ln w="12700">
            <a:solidFill>
              <a:srgbClr val="DCE6F2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165592" y="2084832"/>
            <a:ext cx="658368" cy="658368"/>
          </a:xfrm>
          <a:prstGeom prst="ellipse">
            <a:avLst/>
          </a:prstGeom>
          <a:solidFill>
            <a:srgbClr val="2E7D32"/>
          </a:solidFill>
          <a:ln/>
          <a:effectLst>
            <a:outerShdw sx="100000" sy="100000" kx="0" ky="0" algn="bl" rotWithShape="0" blurRad="101600" dist="25400" dir="5400000">
              <a:srgbClr val="1B2A41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165592" y="2084832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💾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961120" y="2048256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A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สำรองข้อมูล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8229600" y="2724912"/>
            <a:ext cx="3044952" cy="2359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5B6B7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สำรองอัตโนมัติทุกวัน (เก็บ 14 วัน)</a:t>
            </a:r>
            <a:endParaRPr lang="en-US" sz="1150" dirty="0"/>
          </a:p>
          <a:p>
            <a:pPr marL="152400" indent="-1524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5B6B7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กู้คืนข้อมูลแบบรวม (ไม่ทับของเดิม)</a:t>
            </a:r>
            <a:endParaRPr lang="en-US" sz="1150" dirty="0"/>
          </a:p>
          <a:p>
            <a:pPr marL="152400" indent="-1524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5B6B7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บันทึกกิจกรรมย้อนหลัง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25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32F2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ความปลอดภัยข้อมูล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D2A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ปกป้องข้อมูลเด็กและครอบครัว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530352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96112" y="2130552"/>
            <a:ext cx="658368" cy="658368"/>
          </a:xfrm>
          <a:prstGeom prst="ellipse">
            <a:avLst/>
          </a:prstGeom>
          <a:solidFill>
            <a:srgbClr val="1565C0"/>
          </a:solidFill>
          <a:ln/>
          <a:effectLst>
            <a:outerShdw sx="100000" sy="100000" kx="0" ky="0" algn="bl" rotWithShape="0" blurRad="101600" dist="25400" dir="5400000">
              <a:srgbClr val="1B2A41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96112" y="2130552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🔐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691640" y="2093976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A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เข้าถึงตามสิทธิ์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960120" y="2770632"/>
            <a:ext cx="4736592" cy="667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5B6B7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แต่ละครอบครัวเห็นเฉพาะข้อมูลบุตรหลานตนเอง · ยืนยันตัวตนทุกครั้ง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72200" y="1874520"/>
            <a:ext cx="530352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28232" y="2130552"/>
            <a:ext cx="658368" cy="658368"/>
          </a:xfrm>
          <a:prstGeom prst="ellipse">
            <a:avLst/>
          </a:prstGeom>
          <a:solidFill>
            <a:srgbClr val="D32F2F"/>
          </a:solidFill>
          <a:ln/>
          <a:effectLst>
            <a:outerShdw sx="100000" sy="100000" kx="0" ky="0" algn="bl" rotWithShape="0" blurRad="101600" dist="25400" dir="5400000">
              <a:srgbClr val="1B2A41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130552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🛡️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223760" y="2093976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A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ป้องกันข้อมูลหาย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6492240" y="2770632"/>
            <a:ext cx="4736592" cy="667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5B6B7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ระบบป้องกันการเขียนทับ + ล็อกกันชนกัน · สำรองทุกวัน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" y="3749040"/>
            <a:ext cx="530352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96112" y="4005072"/>
            <a:ext cx="658368" cy="658368"/>
          </a:xfrm>
          <a:prstGeom prst="ellipse">
            <a:avLst/>
          </a:prstGeom>
          <a:solidFill>
            <a:srgbClr val="2E7D32"/>
          </a:solidFill>
          <a:ln/>
          <a:effectLst>
            <a:outerShdw sx="100000" sy="100000" kx="0" ky="0" algn="bl" rotWithShape="0" blurRad="101600" dist="25400" dir="5400000">
              <a:srgbClr val="1B2A41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96112" y="4005072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📋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691640" y="3968496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A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PDPA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960120" y="4645152"/>
            <a:ext cx="4736592" cy="667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5B6B7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ขอความยินยอมก่อนเก็บข้อมูล · เก็บเฉพาะที่จำเป็น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172200" y="3749040"/>
            <a:ext cx="530352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28232" y="4005072"/>
            <a:ext cx="658368" cy="658368"/>
          </a:xfrm>
          <a:prstGeom prst="ellipse">
            <a:avLst/>
          </a:prstGeom>
          <a:solidFill>
            <a:srgbClr val="F4A72B"/>
          </a:solidFill>
          <a:ln/>
          <a:effectLst>
            <a:outerShdw sx="100000" sy="100000" kx="0" ky="0" algn="bl" rotWithShape="0" blurRad="101600" dist="25400" dir="5400000">
              <a:srgbClr val="1B2A41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428232" y="4005072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🔍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7223760" y="3968496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A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ตรวจสอบย้อนหลัง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6492240" y="4645152"/>
            <a:ext cx="4736592" cy="667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5B6B7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ทุกการแก้ไขสำคัญมีบันทึกกิจกรรม ตรวจสอบได้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26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32F2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เคล็ดลับ &amp; คำถามที่พบบ่อย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D2A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ใช้งานให้ราบรื่น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530352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96112" y="2084832"/>
            <a:ext cx="201168" cy="201168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7" name="Text 5"/>
          <p:cNvSpPr/>
          <p:nvPr/>
        </p:nvSpPr>
        <p:spPr>
          <a:xfrm>
            <a:off x="1234440" y="1956816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Q  แอปไม่อัปเดต?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234440" y="2340864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ปิดแล้วเปิดใหม่ หรือรีเฟรชหน้า — ระบบโหลดเวอร์ชันใหม่อัตโนมัติ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172200" y="1828800"/>
            <a:ext cx="530352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28232" y="2084832"/>
            <a:ext cx="201168" cy="201168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11" name="Text 9"/>
          <p:cNvSpPr/>
          <p:nvPr/>
        </p:nvSpPr>
        <p:spPr>
          <a:xfrm>
            <a:off x="6766560" y="1956816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Q  เช็คอินไม่ได้ "อยู่นอกรัศมี"?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766560" y="2340864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เปิด GPS ให้แม่นยำ และอยู่ในบริเวณโรงเรียน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3108960"/>
            <a:ext cx="530352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96112" y="3364992"/>
            <a:ext cx="201168" cy="201168"/>
          </a:xfrm>
          <a:prstGeom prst="ellipse">
            <a:avLst/>
          </a:prstGeom>
          <a:solidFill>
            <a:srgbClr val="F4A72B"/>
          </a:solidFill>
          <a:ln/>
        </p:spPr>
      </p:sp>
      <p:sp>
        <p:nvSpPr>
          <p:cNvPr id="15" name="Text 13"/>
          <p:cNvSpPr/>
          <p:nvPr/>
        </p:nvSpPr>
        <p:spPr>
          <a:xfrm>
            <a:off x="1234440" y="3236976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Q  ครูใหม่ล็อกอินไม่ได้?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234440" y="3621024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เปิดผ่าน LINE คัดลอก LINE ID ให้แอดมินผูกบัญชี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172200" y="3108960"/>
            <a:ext cx="530352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28232" y="3364992"/>
            <a:ext cx="201168" cy="201168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9" name="Text 17"/>
          <p:cNvSpPr/>
          <p:nvPr/>
        </p:nvSpPr>
        <p:spPr>
          <a:xfrm>
            <a:off x="6766560" y="3236976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Q  ลืมรหัสผ่านเปิดสลิปเงินเดือน?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766560" y="3621024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กด "ลืมรหัสผ่าน" แจ้งแอดมินรีเซ็ตให้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0080" y="4389120"/>
            <a:ext cx="530352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96112" y="4645152"/>
            <a:ext cx="201168" cy="201168"/>
          </a:xfrm>
          <a:prstGeom prst="ellipse">
            <a:avLst/>
          </a:prstGeom>
          <a:solidFill>
            <a:srgbClr val="1E88E5"/>
          </a:solidFill>
          <a:ln/>
        </p:spPr>
      </p:sp>
      <p:sp>
        <p:nvSpPr>
          <p:cNvPr id="23" name="Text 21"/>
          <p:cNvSpPr/>
          <p:nvPr/>
        </p:nvSpPr>
        <p:spPr>
          <a:xfrm>
            <a:off x="1234440" y="4517136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Q  สลิปขึ้น "ยอดไม่ตรง"?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1234440" y="4901184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ตรวจยอดโอนให้ตรงกับบิล หรือแนบสลิปใหม่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172200" y="4389120"/>
            <a:ext cx="530352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428232" y="4645152"/>
            <a:ext cx="201168" cy="201168"/>
          </a:xfrm>
          <a:prstGeom prst="ellipse">
            <a:avLst/>
          </a:prstGeom>
          <a:solidFill>
            <a:srgbClr val="0D2A5E"/>
          </a:solidFill>
          <a:ln/>
        </p:spPr>
      </p:sp>
      <p:sp>
        <p:nvSpPr>
          <p:cNvPr id="27" name="Text 25"/>
          <p:cNvSpPr/>
          <p:nvPr/>
        </p:nvSpPr>
        <p:spPr>
          <a:xfrm>
            <a:off x="6766560" y="4517136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Q  ภาษาอังกฤษ?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6766560" y="4901184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กดปุ่ม TH/EN มุมขวาบนสลับได้ทุกหน้า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27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D2A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4114800"/>
            <a:ext cx="4572000" cy="4572000"/>
          </a:xfrm>
          <a:prstGeom prst="ellipse">
            <a:avLst/>
          </a:prstGeom>
          <a:solidFill>
            <a:srgbClr val="1565C0">
              <a:alpha val="34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445752" y="-1645920"/>
            <a:ext cx="4572000" cy="4572000"/>
          </a:xfrm>
          <a:prstGeom prst="ellipse">
            <a:avLst/>
          </a:prstGeom>
          <a:solidFill>
            <a:srgbClr val="D32F2F">
              <a:alpha val="30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88636" y="1051560"/>
            <a:ext cx="2011680" cy="2011680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1B2A41">
                <a:alpha val="18000"/>
              </a:srgbClr>
            </a:outerShdw>
          </a:effectLst>
        </p:spPr>
      </p:pic>
      <p:sp>
        <p:nvSpPr>
          <p:cNvPr id="5" name="Text 2"/>
          <p:cNvSpPr/>
          <p:nvPr/>
        </p:nvSpPr>
        <p:spPr>
          <a:xfrm>
            <a:off x="914400" y="3200400"/>
            <a:ext cx="103601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ขอบคุณค่ะ</a:t>
            </a:r>
            <a:endParaRPr lang="en-US" sz="4600" dirty="0"/>
          </a:p>
        </p:txBody>
      </p:sp>
      <p:sp>
        <p:nvSpPr>
          <p:cNvPr id="6" name="Text 3"/>
          <p:cNvSpPr/>
          <p:nvPr/>
        </p:nvSpPr>
        <p:spPr>
          <a:xfrm>
            <a:off x="914400" y="4114800"/>
            <a:ext cx="10360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BD9E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เริ่มใช้งานได้เลยผ่าน LINE ของโรงเรียน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914400" y="470916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FB6D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มีคำถามการใช้งาน — ติดต่อผู้ดูแลระบบของโรงเรียน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2162556" y="5440680"/>
            <a:ext cx="1828800" cy="502920"/>
          </a:xfrm>
          <a:prstGeom prst="roundRect">
            <a:avLst>
              <a:gd name="adj" fmla="val 50909"/>
            </a:avLst>
          </a:prstGeom>
          <a:solidFill>
            <a:srgbClr val="1E88E5"/>
          </a:solidFill>
          <a:ln/>
        </p:spPr>
      </p:sp>
      <p:sp>
        <p:nvSpPr>
          <p:cNvPr id="9" name="Text 6"/>
          <p:cNvSpPr/>
          <p:nvPr/>
        </p:nvSpPr>
        <p:spPr>
          <a:xfrm>
            <a:off x="2162556" y="544068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ผู้ปกครอง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174236" y="5440680"/>
            <a:ext cx="1828800" cy="502920"/>
          </a:xfrm>
          <a:prstGeom prst="roundRect">
            <a:avLst>
              <a:gd name="adj" fmla="val 50909"/>
            </a:avLst>
          </a:prstGeom>
          <a:solidFill>
            <a:srgbClr val="1565C0"/>
          </a:solidFill>
          <a:ln/>
        </p:spPr>
      </p:sp>
      <p:sp>
        <p:nvSpPr>
          <p:cNvPr id="11" name="Text 8"/>
          <p:cNvSpPr/>
          <p:nvPr/>
        </p:nvSpPr>
        <p:spPr>
          <a:xfrm>
            <a:off x="4174236" y="544068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คุณครู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185916" y="5440680"/>
            <a:ext cx="1828800" cy="502920"/>
          </a:xfrm>
          <a:prstGeom prst="roundRect">
            <a:avLst>
              <a:gd name="adj" fmla="val 50909"/>
            </a:avLst>
          </a:prstGeom>
          <a:solidFill>
            <a:srgbClr val="D32F2F"/>
          </a:solidFill>
          <a:ln/>
        </p:spPr>
      </p:sp>
      <p:sp>
        <p:nvSpPr>
          <p:cNvPr id="13" name="Text 10"/>
          <p:cNvSpPr/>
          <p:nvPr/>
        </p:nvSpPr>
        <p:spPr>
          <a:xfrm>
            <a:off x="6185916" y="544068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หัวหน้าครู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8197596" y="5440680"/>
            <a:ext cx="1828800" cy="502920"/>
          </a:xfrm>
          <a:prstGeom prst="roundRect">
            <a:avLst>
              <a:gd name="adj" fmla="val 50909"/>
            </a:avLst>
          </a:prstGeom>
          <a:solidFill>
            <a:srgbClr val="F4A72B"/>
          </a:solidFill>
          <a:ln/>
        </p:spPr>
      </p:sp>
      <p:sp>
        <p:nvSpPr>
          <p:cNvPr id="15" name="Text 12"/>
          <p:cNvSpPr/>
          <p:nvPr/>
        </p:nvSpPr>
        <p:spPr>
          <a:xfrm>
            <a:off x="8197596" y="544068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ผู้ดูแลระบบ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2026-07-11T08:12:57Z</dcterms:created>
  <dcterms:modified xsi:type="dcterms:W3CDTF">2026-07-11T08:12:57Z</dcterms:modified>
</cp:coreProperties>
</file>