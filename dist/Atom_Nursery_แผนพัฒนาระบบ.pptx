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รายได้ต่อเดือน</c:v>
                </c:pt>
              </c:strCache>
            </c:strRef>
          </c:tx>
          <c:spPr>
            <a:solidFill>
              <a:srgbClr val="6B90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C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โรงเรียน</c:v>
                  </c:pt>
                  <c:pt idx="1">
                    <c:v>5 โรงเรียน</c:v>
                  </c:pt>
                  <c:pt idx="2">
                    <c:v>20 โรงเรียน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7500</c:v>
                </c:pt>
                <c:pt idx="1">
                  <c:v>37500</c:v>
                </c:pt>
                <c:pt idx="2">
                  <c:v>150000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ค่าใช้จ่ายระบบ</c:v>
                </c:pt>
              </c:strCache>
            </c:strRef>
          </c:tx>
          <c:spPr>
            <a:solidFill>
              <a:srgbClr val="9E2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C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โรงเรียน</c:v>
                  </c:pt>
                  <c:pt idx="1">
                    <c:v>5 โรงเรียน</c:v>
                  </c:pt>
                  <c:pt idx="2">
                    <c:v>20 โรงเรียน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1825</c:v>
                </c:pt>
                <c:pt idx="1">
                  <c:v>2200</c:v>
                </c:pt>
                <c:pt idx="2">
                  <c:v>4245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C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275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4E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275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C2A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เอกสารนี้สรุปสิ่งที่ระบบทำได้วันนี้ ปัญหาที่พบจากข้อมูลการใช้งานจริง แผนพัฒนา ค่าใช้จ่าย และรายได้ที่เป็นไปได้หากขายให้โรงเรียนอื่น ทุกตัวเลขวัดจากระบบจริง ไม่ใช่การประมาณ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เปิดด้วยตัวเลขก่อน: ช้า 6.8 วินาที แก้ได้ 15-20 เท่า ค่าใช้จ่าย 1,825 บาท และมีรายได้ปลายทาง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ตัวเลขนี้ไม่ใช่ความรู้สึก มาจากระบบวัดที่ฝังอยู่ในแอปเอง เก็บทุกการเรียกใช้จริงของผู้ใช้จริง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ปิดท้ายด้วยสิ่งที่ขอ 4 ข้อ และย้ำว่างานเดือนแรกเริ่มได้เลยโดยยังไม่มีค่าใช้จ่าย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2E6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ATOM NURSERY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แผนพัฒนาระบบ</a:t>
            </a:r>
            <a:endParaRPr lang="en-US" sz="44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 2569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6D6D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ยกระดับจากระบบที่ใช้งานได้ ให้เป็นระบบที่ขายได้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B4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800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8E6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เสนอต่อผู้อำนวยการ  ·  15 กันยายน 2569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สรุปสำหรับผู้บริหาร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สี่ตัวเลขที่ต้องรู้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78608" cy="3063240"/>
          </a:xfrm>
          <a:prstGeom prst="roundRect">
            <a:avLst>
              <a:gd name="adj" fmla="val 3191"/>
            </a:avLst>
          </a:prstGeom>
          <a:solidFill>
            <a:srgbClr val="F6E4E2"/>
          </a:solidFill>
          <a:ln w="12700">
            <a:solidFill>
              <a:srgbClr val="F6E4E2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23957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9E2A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273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E2A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วินาที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730752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เวลารอเฉลี่ยต่อการกด 1 ครั้ง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วัดจากผู้ใช้จริง 405 ครั้ง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38144" y="2148840"/>
            <a:ext cx="2578608" cy="3063240"/>
          </a:xfrm>
          <a:prstGeom prst="roundRect">
            <a:avLst>
              <a:gd name="adj" fmla="val 3191"/>
            </a:avLst>
          </a:prstGeom>
          <a:solidFill>
            <a:srgbClr val="E4EDE7"/>
          </a:solidFill>
          <a:ln w="12700">
            <a:solidFill>
              <a:srgbClr val="E4EDE7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39312" y="23957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B9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15–20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273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9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เท่า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3730752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ความเร็วที่จะดีขึ้น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หลังย้ายฐานข้อมูล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6208" y="2148840"/>
            <a:ext cx="2578608" cy="3063240"/>
          </a:xfrm>
          <a:prstGeom prst="roundRect">
            <a:avLst>
              <a:gd name="adj" fmla="val 3191"/>
            </a:avLst>
          </a:prstGeom>
          <a:solidFill>
            <a:srgbClr val="E7EEF1"/>
          </a:solidFill>
          <a:ln w="12700">
            <a:solidFill>
              <a:srgbClr val="E7EEF1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37376" y="23957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฿1,825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273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ต่อเดือน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730752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ค่าระบบใหม่ ทั้งโรงเรียน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(ปัจจุบัน ฿0)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34272" y="2148840"/>
            <a:ext cx="2578608" cy="3063240"/>
          </a:xfrm>
          <a:prstGeom prst="roundRect">
            <a:avLst>
              <a:gd name="adj" fmla="val 3191"/>
            </a:avLst>
          </a:prstGeom>
          <a:solidFill>
            <a:srgbClr val="FBEEDC"/>
          </a:solidFill>
          <a:ln w="12700">
            <a:solidFill>
              <a:srgbClr val="FBEEDC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35440" y="23957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฿199+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3273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ต่อเด็ก/เดือน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730752"/>
            <a:ext cx="22128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ราคาที่จะขายโรงเรียนอื่น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กำไรขั้นต้น ~90%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ข้อสรุป : ปัญหาทั้งหมดของระบบวันนี้มาจากที่เดียว คือฐานข้อมูล  ·  การแก้จุดนั้นทำให้เร็วขึ้น และเปิดทางให้ขายระบบต่อได้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สถานะปัจจุบัน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วันนี้ระบบทำอะไรให้โรงเรียนแล้วบ้าง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ทุกข้อด้านล่างใช้งานจริงอยู่ทุกวัน และมีชุดทดสอบอัตโนมัติคุ้มครองอยู่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78608" cy="33832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542032"/>
            <a:ext cx="566928" cy="566928"/>
          </a:xfrm>
          <a:prstGeom prst="ellipse">
            <a:avLst/>
          </a:prstGeom>
          <a:solidFill>
            <a:srgbClr val="2E6E78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👶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334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เด็กและผู้ปกครอง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10128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รับ-ส่งเด็กด้วย GPS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สมุดรายงานประจำวัน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พัฒนาการ DSPM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กราฟการเจริญเติบโต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ประกัน · วัคซีน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38144" y="2286000"/>
            <a:ext cx="2578608" cy="33832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5888" y="2542032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75888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💰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352544" y="26334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การเงิน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3310128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ออกบิล · ติดตามค้างชำระ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ตรวจสลิปอัตโนมัติ SlipOK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ชำระล่วงหน้า (ส่วนลด)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วันตัดรอบบิล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ค่าใช้จ่ายเพิ่มเติม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6208" y="2286000"/>
            <a:ext cx="2578608" cy="33832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73952" y="2542032"/>
            <a:ext cx="566928" cy="566928"/>
          </a:xfrm>
          <a:prstGeom prst="ellipse">
            <a:avLst/>
          </a:prstGeom>
          <a:solidFill>
            <a:srgbClr val="6B9080"/>
          </a:solidFill>
          <a:ln w="12700">
            <a:solidFill>
              <a:srgbClr val="6B90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3952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👩‍🏫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26334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บุคลากร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3310128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ลงเวลาเข้า-ออกงาน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 2 ขั้นอนุมัติ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· OT วันหยุด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เงินเดือน + สลิป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สิทธิการลารายคน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2286000"/>
            <a:ext cx="2578608" cy="33832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2542032"/>
            <a:ext cx="566928" cy="566928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72016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🛡️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948672" y="263347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308592" y="3310128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รายงานอุบัติเหตุ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ติดตามการขาดเรียน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แจ้งเตือนฉุกเฉินทาง 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บันทึกการแก้ไขทุกครั้ง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สำรองข้อมูลทุกวัน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ขนาดของสิ่งที่สร้างไปแล้ว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ระบบนี้ไม่เล็ก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350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36,676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บรรทัดโค้ด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214884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9432" y="2350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คำสั่งเชื่อมต่อ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0144" y="214884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84464" y="235000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4041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48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ตารางข้อมูล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25112" y="3840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9432" y="4041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137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ชุดทดสอบ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10144" y="384048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84464" y="4041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บทบาทผู้ใช้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E7EEF1"/>
          </a:solidFill>
          <a:ln w="12700">
            <a:solidFill>
              <a:srgbClr val="E7EEF1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562356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137 ชุดทดสอบอัตโนมัติ คือเหตุผลที่ระบบนี้ย้ายได้อย่างปลอดภัย — กฎทุกข้อถูกเขียนไว้แล้ว พร้อมเหตุการณ์จริงที่ทำให้เกิดกฎนั้น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ทุกการกด 1 ครั้ง</a:t>
            </a:r>
            <a:endParaRPr lang="en-US" sz="3000" dirty="0"/>
          </a:p>
          <a:p>
            <a:pPr algn="l"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ผู้ใช้รอเฉลี่ย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7889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0" b="1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6.8</a:t>
            </a:r>
            <a:endParaRPr lang="en-US" sz="10400" dirty="0"/>
          </a:p>
        </p:txBody>
      </p:sp>
      <p:sp>
        <p:nvSpPr>
          <p:cNvPr id="5" name="Text 3"/>
          <p:cNvSpPr txBox="1"/>
          <p:nvPr/>
        </p:nvSpPr>
        <p:spPr>
          <a:xfrm>
            <a:off x="306324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วินาที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709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6D6D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และ 5% ของการกด รอเกิน 28.8 วินาที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325880"/>
            <a:ext cx="5029200" cy="4160520"/>
          </a:xfrm>
          <a:prstGeom prst="roundRect">
            <a:avLst>
              <a:gd name="adj" fmla="val 1978"/>
            </a:avLst>
          </a:prstGeom>
          <a:solidFill>
            <a:srgbClr val="1B4A5F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1228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ผู้ใช้เจออะไร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2103120"/>
            <a:ext cx="4434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9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ผู้ปกครองยืนหน้าโรงเรียน กดรับกลับ แล้วรอ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9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คุณครูเช็กชื่อตอนเช้า ทีละคน ทีละ 7 วินาที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9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แอดมินออกบิล บางครั้งรอ 2 นาที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DCE9E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 วินาที คือจุดที่ผู้ปกครองคิดว่าแอปเสีย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4526280"/>
            <a:ext cx="4389120" cy="777240"/>
          </a:xfrm>
          <a:prstGeom prst="roundRect">
            <a:avLst>
              <a:gd name="adj" fmla="val 10588"/>
            </a:avLst>
          </a:prstGeom>
          <a:solidFill>
            <a:srgbClr val="0B2835"/>
          </a:solidFill>
          <a:ln w="12700">
            <a:solidFill>
              <a:srgbClr val="0B28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45262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8C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วัดจริงจาก 14,782 ครั้ง · 405 รอบการใช้งาน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เราใช้ Google Sheets เป็นฐานข้อมูล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มันเคยเป็นทางเลือกที่ถูกต้อง — เริ่มได้เร็ว ฟรี และโรงเรียนเปิดดูข้อมูลเองได้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12080" cy="3200400"/>
          </a:xfrm>
          <a:prstGeom prst="roundRect">
            <a:avLst>
              <a:gd name="adj" fmla="val 2571"/>
            </a:avLst>
          </a:prstGeom>
          <a:solidFill>
            <a:srgbClr val="F6E4E2"/>
          </a:solidFill>
          <a:ln w="12700">
            <a:solidFill>
              <a:srgbClr val="EDCFCC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6334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E2A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ข้อจำกัดที่แก้ไม่ได้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461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รันได้ทีละคำสั่งต่อผู้ใช้ 1 คน — ต่อคิวกันเอง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Sheets ไม่ใช่ฐานข้อมูล ไม่มีดัชนีค้นหา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transaction — ออกบิลล้มกลางคัน = ออกไปครึ่งห้อง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ทุกตัวเลขถูกเก็บเป็นทศนิยมโดยประมาณ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212080" cy="3200400"/>
          </a:xfrm>
          <a:prstGeom prst="roundRect">
            <a:avLst>
              <a:gd name="adj" fmla="val 2571"/>
            </a:avLst>
          </a:prstGeom>
          <a:solidFill>
            <a:srgbClr val="E4EDE7"/>
          </a:solidFill>
          <a:ln w="12700">
            <a:solidFill>
              <a:srgbClr val="CFE0D5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560320"/>
            <a:ext cx="502920" cy="502920"/>
          </a:xfrm>
          <a:prstGeom prst="ellipse">
            <a:avLst/>
          </a:prstGeom>
          <a:solidFill>
            <a:srgbClr val="6B9080"/>
          </a:solidFill>
          <a:ln w="12700">
            <a:solidFill>
              <a:srgbClr val="6B9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42048" y="26334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F6B5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ฐานข้อมูลจริง (PostgreSQL)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2461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รองรับคนเข้าพร้อมกันหลายร้อยคน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ค้นหาจากดัชนี — หลักมิลลิวินาที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transaction — สำเร็จทั้งหมด หรือไม่เกิดอะไรเลย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ชนิดข้อมูลตัวเงินที่แม่นยำ 100%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9E2A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สิ่งที่ต้องรายงานให้ทราบ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ตอนนี้ระบบคำนวณเงินด้วยทศนิยมโดยประมาณ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6E4E2"/>
          </a:solidFill>
          <a:ln w="12700">
            <a:solidFill>
              <a:srgbClr val="EDCFCC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Sheets เก็บทุกตัวเลขเป็นทศนิยมแบบประมาณ (floating point) — และเราคำนวณส่วนลดชำระล่วงหน้า OT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กองทุนสำรองเลี้ยงชีพ และเงินเดือน ด้วยตัวเลขแบบนั้น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E4EDE7"/>
          </a:solidFill>
          <a:ln w="12700">
            <a:solidFill>
              <a:srgbClr val="E4ED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648456"/>
            <a:ext cx="493776" cy="493776"/>
          </a:xfrm>
          <a:prstGeom prst="ellipse">
            <a:avLst/>
          </a:prstGeom>
          <a:solidFill>
            <a:srgbClr val="6B9080"/>
          </a:solidFill>
          <a:ln w="12700">
            <a:solidFill>
              <a:srgbClr val="6B90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648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52044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6B9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ยังไม่เคยเกิดปัญหา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52044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เพราะตัวเลขค่าเทอมของโรงเรียนเป็นเลขกลม ส่วนลดจึงลงตัวพอดี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FBEEDC"/>
          </a:solidFill>
          <a:ln w="12700">
            <a:solidFill>
              <a:srgbClr val="FBEE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517136"/>
            <a:ext cx="493776" cy="493776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5171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38912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แต่เป็นความเสี่ยงจริง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38912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วันที่มีเลขไม่กลม ผลต่างระดับสตางค์จะโผล่ขึ้นมาแบบเงียบ ๆ ในสลิปเงินเดือน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749808"/>
          </a:xfrm>
          <a:prstGeom prst="roundRect">
            <a:avLst>
              <a:gd name="adj" fmla="val 10976"/>
            </a:avLst>
          </a:prstGeom>
          <a:solidFill>
            <a:srgbClr val="E7EEF1"/>
          </a:solidFill>
          <a:ln w="12700">
            <a:solidFill>
              <a:srgbClr val="E7EE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385816"/>
            <a:ext cx="493776" cy="493776"/>
          </a:xfrm>
          <a:prstGeom prst="ellipse">
            <a:avLst/>
          </a:prstGeom>
          <a:solidFill>
            <a:srgbClr val="2E6E78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53858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2578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ฐานข้อมูลใหม่แก้ได้ทันที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525780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PostgreSQL มีชนิดข้อมูลตัวเงินที่แม่นยำเป๊ะ ไม่มีการปัดเศษซ่อนอยู่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1447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เรื่องเงินคือความน่าเชื่อถือของระบบ — ข้อนี้ข้อเดียวก็คุ้มค่าที่จะย้ายแล้ว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โครงสร้างใหม่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เครื่องมือที่จะใช้ และเหตุผล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478024"/>
            <a:ext cx="548640" cy="548640"/>
          </a:xfrm>
          <a:prstGeom prst="ellipse">
            <a:avLst/>
          </a:prstGeom>
          <a:solidFill>
            <a:srgbClr val="2E6E78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478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304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Supabase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331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26974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PostgreSQL · ตัวเงินแม่นยำ · แยกข้อมูลแต่ละโรงเรียนที่ระดับฐานข้อมูล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7376" y="2478024"/>
            <a:ext cx="548640" cy="548640"/>
          </a:xfrm>
          <a:prstGeom prst="ellipse">
            <a:avLst/>
          </a:prstGeom>
          <a:solidFill>
            <a:srgbClr val="123A4F"/>
          </a:solidFill>
          <a:ln w="12700">
            <a:solidFill>
              <a:srgbClr val="123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7376" y="24780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2304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Vercel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23317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ที่ตั้งเว็บ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14032" y="26974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เซิร์ฟเวอร์สิงคโปร์ ใกล้ไทยที่สุด · ตรวจงานได้ก่อนขึ้นจริง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" y="3895344"/>
            <a:ext cx="548640" cy="548640"/>
          </a:xfrm>
          <a:prstGeom prst="ellipse">
            <a:avLst/>
          </a:prstGeom>
          <a:solidFill>
            <a:srgbClr val="6B9080"/>
          </a:solidFill>
          <a:ln w="12700">
            <a:solidFill>
              <a:srgbClr val="6B90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3895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3721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Cloudflare R2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7490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9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เก็บรูปภาพ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536192" y="41148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ค่าโหลดรูปฟรี — สำคัญมากกับแอปที่เต็มไปด้วยรูปเด็ก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56616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895344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3895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14032" y="3721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n8n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37490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งานอัตโนมัติ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41148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แจ้งเตือนเช้า-เย็น · สำรองข้อมูล · ออกบิลตามรอบ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98348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59536" y="5312664"/>
            <a:ext cx="548640" cy="548640"/>
          </a:xfrm>
          <a:prstGeom prst="ellipse">
            <a:avLst/>
          </a:prstGeom>
          <a:solidFill>
            <a:srgbClr val="06A34A"/>
          </a:solidFill>
          <a:ln w="12700">
            <a:solidFill>
              <a:srgbClr val="06A3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" y="5312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536192" y="5138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(เดิม)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5166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6A3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ทางเข้าระบบ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536192" y="55321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ผู้ปกครองยังเข้าผ่าน LINE เหมือนเดิม ไม่ต้องเรียนรู้ใหม่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498348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37376" y="5312664"/>
            <a:ext cx="548640" cy="54864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37376" y="5312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114032" y="51389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SlipOK (เดิม)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418320" y="5166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E2A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ตรวจสลิป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14032" y="55321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ไม่แตะต้อง — มันทำงานได้ และเป็นเส้นทางเงิน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แนวทางการทำงาน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แยกเป็น 2 สาย — ของเดิมใช้งานได้ตลอดเวลา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ระบบใหม่ค่อย ๆ โตข้างระบบเดิม และรับงานไปทีละส่วน · ไม่มีวันที่ต้อง "ปิดระบบเพื่อย้าย"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3566160"/>
          </a:xfrm>
          <a:prstGeom prst="roundRect">
            <a:avLst>
              <a:gd name="adj" fmla="val 2308"/>
            </a:avLst>
          </a:prstGeom>
          <a:solidFill>
            <a:srgbClr val="E7EEF1"/>
          </a:solidFill>
          <a:ln w="12700">
            <a:solidFill>
              <a:srgbClr val="D3E0E5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60320"/>
            <a:ext cx="548640" cy="548640"/>
          </a:xfrm>
          <a:prstGeom prst="ellipse">
            <a:avLst/>
          </a:prstGeom>
          <a:solidFill>
            <a:srgbClr val="2E6E78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ทำให้เร็ว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โรงเรียนได้ประโยชน์ก่อน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6118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ออกแบบฐานข้อมูลใหม่ 48 ตาราง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เชื่อมสองทาง Sheets ↔ ฐานข้อมูลใหม่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ย้าย "การอ่าน" — ตรงนี้ความเร็วเปลี่ยน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ย้าย "การเขียน" — เรื่องเงินท้ายสุด ตรวจทุกบาท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Sheets เหลือไว้เป็นกระจกอ่านอย่างเดียว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5303520" cy="3566160"/>
          </a:xfrm>
          <a:prstGeom prst="roundRect">
            <a:avLst>
              <a:gd name="adj" fmla="val 2308"/>
            </a:avLst>
          </a:prstGeom>
          <a:solidFill>
            <a:srgbClr val="FBEEDC"/>
          </a:solidFill>
          <a:ln w="12700">
            <a:solidFill>
              <a:srgbClr val="F0DCC2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560320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ทำให้ขายได้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3017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สิ่งที่จะนำไปเสนอโรงเรียนอื่น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6118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ออกแบบหน้าตาใหม่ทั้งหมด (UX/UI)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ระบบรองรับหลายโรงเรียน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หน้าจอควบคุมสำหรับเปิด-ปิดฟังก์ชัน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ขึ้น Google Play Store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ระบบอัปเดตแบบทยอยปล่อย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 A เสร็จก่อน ประมาณเดือนที่ 4–5 · สาย B ทำต่อเนื่องไปจนพร้อมขาย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งานชิ้นแรก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คู่มือการใช้งานครบทุกบทบาท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ทำก่อนเขียนโค้ดแม้แต่บรรทัดเดียว — เพราะมันคือข้อกำหนดของระบบใหม่ และเป็นคู่มือพนักงานไปในตัว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04825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53312" y="2606040"/>
            <a:ext cx="621792" cy="621792"/>
          </a:xfrm>
          <a:prstGeom prst="ellipse">
            <a:avLst/>
          </a:prstGeom>
          <a:solidFill>
            <a:srgbClr val="2E6E78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53312" y="2606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9417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หน้าจอ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71216" y="2377440"/>
            <a:ext cx="204825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4448" y="2606040"/>
            <a:ext cx="621792" cy="621792"/>
          </a:xfrm>
          <a:prstGeom prst="ellipse">
            <a:avLst/>
          </a:prstGeom>
          <a:solidFill>
            <a:srgbClr val="6B9080"/>
          </a:solidFill>
          <a:ln w="12700">
            <a:solidFill>
              <a:srgbClr val="6B90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84448" y="2606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333756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คุณครู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62656" y="369417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หน้าจอ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02352" y="2377440"/>
            <a:ext cx="204825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15584" y="2606040"/>
            <a:ext cx="621792" cy="62179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15584" y="2606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193792" y="333756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หัวหน้าครู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193792" y="369417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อนุมัติ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33488" y="2377440"/>
            <a:ext cx="204825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2606040"/>
            <a:ext cx="621792" cy="621792"/>
          </a:xfrm>
          <a:prstGeom prst="ellipse">
            <a:avLst/>
          </a:prstGeom>
          <a:solidFill>
            <a:srgbClr val="123A4F"/>
          </a:solidFill>
          <a:ln w="12700">
            <a:solidFill>
              <a:srgbClr val="123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2606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424928" y="333756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24928" y="369417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หน้าจอ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64624" y="2377440"/>
            <a:ext cx="204825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77856" y="2606040"/>
            <a:ext cx="621792" cy="621792"/>
          </a:xfrm>
          <a:prstGeom prst="ellipse">
            <a:avLst/>
          </a:prstGeom>
          <a:solidFill>
            <a:srgbClr val="62757F"/>
          </a:solidFill>
          <a:ln w="12700">
            <a:solidFill>
              <a:srgbClr val="62757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77856" y="2606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📄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656064" y="333756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ผู้ตรวจสอบ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656064" y="369417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อ่านอย่างเดียว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343400"/>
            <a:ext cx="108813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60120" y="4553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แต่ละเล่มบอกอะไร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เห็นอะไรได้บ้าง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ทุกหน้าจอที่บทบาทนั้นเข้าถึงได้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ทำอะไรได้บ้าง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48056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ทุกปุ่ม และผลของการกดปุ่มนั้น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001000" y="5029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ทำอะไรไม่ได้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00100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ข้อห้าม พร้อมข้อความที่ระบบจะตอบกลับ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ระบบขายต่อ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หนึ่งระบบ รองรับหลายโรงเรียน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ข้อมูลแต่ละโรงเรียนถูกกั้นที่ระดับฐานข้อมูล — ไม่ใช่ที่โค้ด ฐานข้อมูลจะปฏิเสธเองถ้าข้ามโรงเรียน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291840" cy="3566160"/>
          </a:xfrm>
          <a:prstGeom prst="roundRect">
            <a:avLst>
              <a:gd name="adj" fmla="val 2500"/>
            </a:avLst>
          </a:prstGeom>
          <a:solidFill>
            <a:srgbClr val="123A4F"/>
          </a:solidFill>
          <a:ln w="12700">
            <a:solidFill>
              <a:srgbClr val="123A4F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560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หน้าจอควบคุม</a:t>
            </a:r>
            <a:endParaRPr lang="en-US" sz="17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ของเรา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661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E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เพิ่ม/ระงับโรงเรียน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E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เปิด-ปิดฟังก์ชันรายโรงเรียน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E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ดูความเร็วรายโรงเรียน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E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ออกใบแจ้งหนี้</a:t>
            </a:r>
            <a:endParaRPr lang="en-US" sz="12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CFDE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ทยอยปล่อยอัปเดต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7178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2523744"/>
            <a:ext cx="566928" cy="566928"/>
          </a:xfrm>
          <a:prstGeom prst="ellipse">
            <a:avLst/>
          </a:prstGeom>
          <a:solidFill>
            <a:srgbClr val="6B9080"/>
          </a:solidFill>
          <a:ln w="12700">
            <a:solidFill>
              <a:srgbClr val="6B90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523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🏫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85232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โรงเรียน Atom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85232" y="28529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Package C · beta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28600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ข้อมูลแยกขาดจากกัน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3520440"/>
            <a:ext cx="7178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3758184"/>
            <a:ext cx="566928" cy="566928"/>
          </a:xfrm>
          <a:prstGeom prst="ellipse">
            <a:avLst/>
          </a:prstGeom>
          <a:solidFill>
            <a:srgbClr val="2E6E78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🏫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85232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โรงเรียน B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4087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Package A · stable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35204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ข้อมูลแยกขาดจากกัน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754880"/>
            <a:ext cx="7178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4992624"/>
            <a:ext cx="566928" cy="566928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4992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🏫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85232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โรงเรียน C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532180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Package B · stable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47548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ข้อมูลแยกขาดจากกัน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เพิ่มโรงเรียนใหม่ = สร้างข้อมูล 1 แถว แล้วเลือกแพ็กเกจ ไม่ต้องติดตั้งระบบใหม่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ของที่ขายได้ มีอยู่แล้ว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ฟังก์ชันที่เปิด-ปิดได้รายโรงเรียน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ทั้งหมดนี้สร้างเสร็จและผ่านการทดสอบแล้ว ไม่ใช่สิ่งที่ต้องสร้างใหม่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569464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2592324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2331720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เงินเดือน + สลิป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144" y="2331720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2569464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31336" y="2592324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9664" y="2331720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2331720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569464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592324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67728" y="2331720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วันหยุด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34272" y="2331720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2569464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27464" y="2592324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65792" y="2331720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พัฒนาการ DSPM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264408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502152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3272" y="3525012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71600" y="3264408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กราฟการเจริญเติบโต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38144" y="3264408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02736" y="3502152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31336" y="3525012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69664" y="3264408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ประกันนักเรียน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36208" y="3264408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502152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3525012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67728" y="3264408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รายงานอุบัติเหตุ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034272" y="3264408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98864" y="3502152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27464" y="3525012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65792" y="3264408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แบบสอบถาม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197096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4434840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3272" y="4457700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371600" y="4197096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เมนูอาหาร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438144" y="4197096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02736" y="4434840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31336" y="4457700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169664" y="4197096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36208" y="4197096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4434840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9400" y="4457700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67728" y="4197096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ชำระล่วงหน้า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034272" y="4197096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98864" y="4434840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27464" y="4457700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765792" y="4197096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ตรวจสลิป SlipOK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40080" y="5129784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" y="5367528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3272" y="5390388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371600" y="5129784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 LINE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438144" y="5129784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02736" y="5367528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31336" y="5390388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169664" y="5129784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เข้าระบบด้วย Google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236208" y="5129784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00800" y="5367528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29400" y="5390388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967728" y="5129784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จัดชั้นเรียน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9034272" y="5129784"/>
            <a:ext cx="260604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98864" y="5367528"/>
            <a:ext cx="457200" cy="274320"/>
          </a:xfrm>
          <a:prstGeom prst="roundRect">
            <a:avLst>
              <a:gd name="adj" fmla="val 46667"/>
            </a:avLst>
          </a:prstGeom>
          <a:solidFill>
            <a:srgbClr val="6B90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27464" y="5390388"/>
            <a:ext cx="224028" cy="2240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765792" y="5129784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ติดตามการขาดเรียน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รูปแบบราคา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เก็บรายหัวเด็ก ต่อเดือน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เป็นหน่วยที่โรงเรียนคิดอยู่แล้ว เพราะเป็นวิธีเดียวกับที่เขาเก็บค่าเทอมจากผู้ปกครอง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78608" cy="3108960"/>
          </a:xfrm>
          <a:prstGeom prst="roundRect">
            <a:avLst>
              <a:gd name="adj" fmla="val 3191"/>
            </a:avLst>
          </a:prstGeom>
          <a:solidFill>
            <a:srgbClr val="E7EEF1"/>
          </a:solidFill>
          <a:ln w="12700">
            <a:solidFill>
              <a:srgbClr val="E7EEF1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14600"/>
            <a:ext cx="530352" cy="530352"/>
          </a:xfrm>
          <a:prstGeom prst="ellipse">
            <a:avLst/>
          </a:prstGeom>
          <a:solidFill>
            <a:srgbClr val="2E6E78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87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004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199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858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บาท / เด็ก / เดือน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206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วันของโรงเรียน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รับ-ส่ง · สมุดรายงาน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ประกาศ · ออกบิล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38144" y="2286000"/>
            <a:ext cx="2578608" cy="3108960"/>
          </a:xfrm>
          <a:prstGeom prst="roundRect">
            <a:avLst>
              <a:gd name="adj" fmla="val 3191"/>
            </a:avLst>
          </a:prstGeom>
          <a:solidFill>
            <a:srgbClr val="E4EDE7"/>
          </a:solidFill>
          <a:ln w="12700">
            <a:solidFill>
              <a:srgbClr val="E4EDE7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94176" y="2514600"/>
            <a:ext cx="530352" cy="530352"/>
          </a:xfrm>
          <a:prstGeom prst="ellipse">
            <a:avLst/>
          </a:prstGeom>
          <a:solidFill>
            <a:srgbClr val="6B9080"/>
          </a:solidFill>
          <a:ln w="12700">
            <a:solidFill>
              <a:srgbClr val="6B90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94176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352544" y="2587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มาตรฐาน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94176" y="32004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B9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299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3694176" y="3858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บาท / เด็ก / เดือน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694176" y="4206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+ เงินและบุคลากร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SlipOK · ชำระล่วงหน้า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 · ติดตามขาดเรียน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2286000"/>
            <a:ext cx="2578608" cy="3108960"/>
          </a:xfrm>
          <a:prstGeom prst="roundRect">
            <a:avLst>
              <a:gd name="adj" fmla="val 3191"/>
            </a:avLst>
          </a:prstGeom>
          <a:solidFill>
            <a:srgbClr val="FBEEDC"/>
          </a:solidFill>
          <a:ln w="12700">
            <a:solidFill>
              <a:srgbClr val="FBEEDC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2514600"/>
            <a:ext cx="530352" cy="53035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2587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2004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399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858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บาท / เด็ก / เดือน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206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 + เงินเดือน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· DSPM · ประกัน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Export · LINE push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34272" y="2286000"/>
            <a:ext cx="2578608" cy="3108960"/>
          </a:xfrm>
          <a:prstGeom prst="roundRect">
            <a:avLst>
              <a:gd name="adj" fmla="val 3191"/>
            </a:avLst>
          </a:prstGeom>
          <a:solidFill>
            <a:srgbClr val="E2E8EB"/>
          </a:solidFill>
          <a:ln w="12700">
            <a:solidFill>
              <a:srgbClr val="E2E8EB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90304" y="2514600"/>
            <a:ext cx="530352" cy="530352"/>
          </a:xfrm>
          <a:prstGeom prst="ellipse">
            <a:avLst/>
          </a:prstGeom>
          <a:solidFill>
            <a:srgbClr val="123A4F"/>
          </a:solidFill>
          <a:ln w="12700">
            <a:solidFill>
              <a:srgbClr val="123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90304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948672" y="2587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290304" y="32004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ใบเสนอราคา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290304" y="3858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290304" y="4206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เกิน 30 คน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หรือต้องปรับระบบเฉพาะ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577840"/>
            <a:ext cx="1088136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60120" y="5577840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กติกาสำคัญ 2 ข้อ :  คิดขั้นต่ำ 20 คนทุกโรงเรียน (Package A เริ่ม ฿3,980/เดือน)  ·  เกิน 30 คน เปลี่ยนเป็นใบเสนอราคา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ตัวเลขทางธุรกิจ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รายได้เทียบค่าใช้จ่าย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สมมติเด็กเฉลี่ยโรงเรียนละ 25 คน · คละแพ็กเกจ A–C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2402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331720"/>
            <a:ext cx="3840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936992" y="24505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B9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~90%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936992" y="2907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กำไรขั้นต้นเมื่อมี 5 โรงเรียนขึ้นไป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3538728"/>
            <a:ext cx="3840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936992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โรงเรียนแรก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936992" y="4114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คือโรงเรียนที่แพงที่สุด หลังจากนั้นเกือบเป็นกำไรล้วน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0960" y="4745736"/>
            <a:ext cx="38404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936992" y="48646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฿4,245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7936992" y="53218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ค่าใช้จ่ายระบบทั้งหมด เมื่อมี 20 โรงเรียน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B9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ข้อดี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สิ่งที่โรงเรียนจะได้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2E6E78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เร็วขึ้น 15–20 เท่า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786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6.8 วินาที เหลือต่ำกว่า 0.4 วินาที · ผู้ปกครองหน้าโรงเรียนไม่ต้องยืนรอ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331720"/>
            <a:ext cx="548640" cy="54864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ตัวเลขเงินแม่นยำ 100%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57860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ปิดความเสี่ยงการปัดเศษในสลิปเงินเดือนและส่วนลด ก่อนที่มันจะเกิด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749040"/>
            <a:ext cx="548640" cy="548640"/>
          </a:xfrm>
          <a:prstGeom prst="ellipse">
            <a:avLst/>
          </a:prstGeom>
          <a:solidFill>
            <a:srgbClr val="123A4F"/>
          </a:solidFill>
          <a:ln w="12700">
            <a:solidFill>
              <a:srgbClr val="123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ข้อมูลปลอดภัยขึ้นมาก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99592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สำรองย้อนเวลาได้ · ออกบิลล้มกลางคันแล้วไม่เหลือของค้าง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749040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มีคู่มือครบทุกบทบาท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99592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พนักงานใหม่อ่านเองได้ ไม่ต้องสอนปากต่อปาก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166360"/>
            <a:ext cx="548640" cy="548640"/>
          </a:xfrm>
          <a:prstGeom prst="ellipse">
            <a:avLst/>
          </a:prstGeom>
          <a:solidFill>
            <a:srgbClr val="6B9080"/>
          </a:solidFill>
          <a:ln w="12700">
            <a:solidFill>
              <a:srgbClr val="6B90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ขึ้น Play Store ได้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41324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ผู้ปกครองโหลดจากที่เดียวกับแอปทั่วไป น่าเชื่อถือขึ้น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84632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5166360"/>
            <a:ext cx="548640" cy="548640"/>
          </a:xfrm>
          <a:prstGeom prst="ellipse">
            <a:avLst/>
          </a:prstGeom>
          <a:solidFill>
            <a:srgbClr val="6B4E9E"/>
          </a:solidFill>
          <a:ln w="12700">
            <a:solidFill>
              <a:srgbClr val="6B4E9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กลายเป็นสินทรัพย์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41324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จากค่าใช้จ่ายของโรงเรียน เป็นสิ่งที่สร้างรายได้จากโรงเรียนอื่น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9E2A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ข้อเสีย และสิ่งที่ต้องยอมรับ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เรื่องที่ต้องบอกให้ครบ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7F3EC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31136"/>
            <a:ext cx="502920" cy="50292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31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17904" y="212140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E2A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มีค่าใช้จ่ายรายเดือน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12140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฿0 เป็น ~฿1,825/เดือน · ระบบเดิมฟรีเพราะใช้ของ Google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75320" y="212140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6B5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ยอมรับ — แลกกับความเร็วและความปลอดภัยของข้อมูลเงิน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300984"/>
            <a:ext cx="502920" cy="50292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17904" y="319125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E2A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ใช้เวลา 9–11 เดือน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19125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ไม่ใช่งานที่เสร็จใน 1–2 เดือน เพราะต้องย้ายเรื่องเงินอย่างระมัดระวัง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19125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6B5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แบ่ง 2 สาย โรงเรียนได้ความเร็วตั้งแต่เดือนที่ 4–5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7F3EC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370832"/>
            <a:ext cx="502920" cy="50292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17904" y="426110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E2A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Google Sheets ดูเองไม่ได้เหมือนเดิม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426110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ทุกวันนี้เปิดชีตดูข้อมูลดิบได้ · ฐานข้อมูลใหม่เปิดแบบนั้นไม่ได้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26110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6B5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จะทำหน้าจอส่งออก Excel ทดแทนให้ครบ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221224"/>
            <a:ext cx="1088136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5440680"/>
            <a:ext cx="502920" cy="502920"/>
          </a:xfrm>
          <a:prstGeom prst="ellipse">
            <a:avLst/>
          </a:prstGeom>
          <a:solidFill>
            <a:srgbClr val="9E2A2B"/>
          </a:solidFill>
          <a:ln w="12700">
            <a:solidFill>
              <a:srgbClr val="9E2A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517904" y="533095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9E2A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พึ่งพาผู้ให้บริการภายนอก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533095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Supabase หรือ Vercel ล่ม ระบบเราล่มด้วย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3309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F6B5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สำรองข้อมูลออกมานอกระบบทุกวัน และย้ายผู้ให้บริการได้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คอลัมน์ขวาคือวิธีรับมือ — ไม่มีข้อไหนที่ยังไม่มีคำตอบ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แผนเวลา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ลำดับงาน และจุดที่โรงเรียนจะรู้สึกได้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2724912"/>
            <a:ext cx="548640" cy="548640"/>
          </a:xfrm>
          <a:prstGeom prst="ellipse">
            <a:avLst/>
          </a:prstGeom>
          <a:solidFill>
            <a:srgbClr val="2E6E78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89888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1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7673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เขียนคู่มือทุกบทบาท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ออกแบบฐานข้อมูล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88336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CE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71216" y="251460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2724912"/>
            <a:ext cx="548640" cy="548640"/>
          </a:xfrm>
          <a:prstGeom prst="ellipse">
            <a:avLst/>
          </a:prstGeom>
          <a:solidFill>
            <a:srgbClr val="2E6E78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80944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6E7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2–3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980944" y="37673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สร้างฐานข้อมูลใหม่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เชื่อมสองทางกับของเดิม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CE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02352" y="251460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2724912"/>
            <a:ext cx="548640" cy="548640"/>
          </a:xfrm>
          <a:prstGeom prst="ellipse">
            <a:avLst/>
          </a:prstGeom>
          <a:solidFill>
            <a:srgbClr val="6B9080"/>
          </a:solidFill>
          <a:ln w="12700">
            <a:solidFill>
              <a:srgbClr val="6B90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52160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9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4–5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7673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ย้ายการอ่าน–เขียน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ระบบเร็วขึ้นจริง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CE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33488" y="251460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2724912"/>
            <a:ext cx="548640" cy="5486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83296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6–8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443216" y="37673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หน้าตาใหม่ทั้งหมด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รองรับหลายโรงเรียน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381744" y="3291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CE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64624" y="251460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4432" y="2724912"/>
            <a:ext cx="548640" cy="548640"/>
          </a:xfrm>
          <a:prstGeom prst="ellipse">
            <a:avLst/>
          </a:prstGeom>
          <a:solidFill>
            <a:srgbClr val="123A4F"/>
          </a:solidFill>
          <a:ln w="12700">
            <a:solidFill>
              <a:srgbClr val="123A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14432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674352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3A4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 9–11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674352" y="3767328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หน้าจอควบคุม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ขึ้น Play Store · พร้อมขาย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120640"/>
            <a:ext cx="5349240" cy="1005840"/>
          </a:xfrm>
          <a:prstGeom prst="roundRect">
            <a:avLst>
              <a:gd name="adj" fmla="val 8182"/>
            </a:avLst>
          </a:prstGeom>
          <a:solidFill>
            <a:srgbClr val="E4EDE7"/>
          </a:solidFill>
          <a:ln w="12700">
            <a:solidFill>
              <a:srgbClr val="CFE0D5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60120" y="5257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6B5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เดือนที่ 4–5 · โรงเรียนได้ความเร็ว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5596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ก่อนหน้านั้นใช้ระบบเดิมตามปกติ ไม่มีอะไรเปลี่ยน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512064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FBEEDC"/>
          </a:solidFill>
          <a:ln w="12700">
            <a:solidFill>
              <a:srgbClr val="F0DCC2"/>
            </a:solidFill>
            <a:prstDash val="solid"/>
          </a:ln>
          <a:effectLst>
            <a:outerShdw sx="100000" sy="100000" kx="0" ky="0" algn="bl" rotWithShape="0" blurRad="114300" dist="19050" dir="5400000">
              <a:srgbClr val="96A8B2">
                <a:alpha val="2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537960" y="5257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5A1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เดือนที่ 11 · เริ่มเสนอขายโรงเรียนอื่นได้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5596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ระบบหลายโรงเรียนต้องเสร็จสมบูรณ์ก่อนไปขาย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ขั้นตอนถัดไป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สิ่งที่ขออนุมัติ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4A5F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020824"/>
            <a:ext cx="530352" cy="53035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020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920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อนุมัติค่าใช้จ่ายระบบ ~฿1,825 / เดือน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9202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C4C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เริ่มจ่ายจริงเมื่อเริ่มสร้างฐานข้อมูล ประมาณเดือนที่ 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4A5F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072384"/>
            <a:ext cx="530352" cy="53035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072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2971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อนุมัติทิศทางขายต่อให้โรงเรียนอื่น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971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C4C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เพื่อให้ออกแบบระบบหลายโรงเรียนตั้งแต่ต้น แทนการมาแก้ทีหลัง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4A5F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123944"/>
            <a:ext cx="530352" cy="53035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4123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023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ยืนยันรูปแบบราคา 199 / 299 / 399 บาท ต่อเด็ก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40233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C4C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รวมถึงกติกาขั้นต่ำ 20 คน และเกิน 30 คนเป็นใบเสนอราคา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B4A5F"/>
          </a:solidFill>
          <a:ln w="12700">
            <a:solidFill>
              <a:srgbClr val="2E6E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175504"/>
            <a:ext cx="530352" cy="530352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5175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72768" y="5074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มอบหมายผู้ตรวจรับคู่มือแต่ละบทบาท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5074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C4C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คู่มือต้องตรงกับการใช้งานจริง จึงต้องมีคนของโรงเรียนอ่านและยืนยัน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608076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0B2835"/>
          </a:solidFill>
          <a:ln w="12700">
            <a:solidFill>
              <a:srgbClr val="0B283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60807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98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งานที่เริ่มได้ทันทีโดยไม่มีค่าใช้จ่าย : เขียนคู่มือทุกบทบาท และออกแบบฐานข้อมูลบนกระดาษ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35508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57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แผนพัฒนาระบบ Atom Nursery</dc:title>
  <dc:subject>PptxGenJS Presentation</dc:subject>
  <dc:creator>Atom Nursery</dc:creator>
  <cp:lastModifiedBy>Atom Nursery</cp:lastModifiedBy>
  <cp:revision>1</cp:revision>
  <dcterms:created xsi:type="dcterms:W3CDTF">2026-09-15T05:02:29Z</dcterms:created>
  <dcterms:modified xsi:type="dcterms:W3CDTF">2026-09-15T05:02:29Z</dcterms:modified>
</cp:coreProperties>
</file>