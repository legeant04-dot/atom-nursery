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7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รายได้ต่อเดือน</c:v>
                </c:pt>
              </c:strCache>
            </c:strRef>
          </c:tx>
          <c:spPr>
            <a:solidFill>
              <a:srgbClr val="6B908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1C2A3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1 โรงเรียน</c:v>
                </c:pt>
                <c:pt idx="1">
                  <c:v>5 โรงเรียน</c:v>
                </c:pt>
                <c:pt idx="2">
                  <c:v>20 โรงเรียน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7500</c:v>
                </c:pt>
                <c:pt idx="1">
                  <c:v>37500</c:v>
                </c:pt>
                <c:pt idx="2">
                  <c:v>150000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BF-4420-BA4C-E98D5C154AD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ค่าใช้จ่ายระบบ</c:v>
                </c:pt>
              </c:strCache>
            </c:strRef>
          </c:tx>
          <c:spPr>
            <a:solidFill>
              <a:srgbClr val="9E2A2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1C2A3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1 โรงเรียน</c:v>
                </c:pt>
                <c:pt idx="1">
                  <c:v>5 โรงเรียน</c:v>
                </c:pt>
                <c:pt idx="2">
                  <c:v>20 โรงเรียน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1825</c:v>
                </c:pt>
                <c:pt idx="1">
                  <c:v>2200</c:v>
                </c:pt>
                <c:pt idx="2">
                  <c:v>4245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9BF-4420-BA4C-E98D5C154AD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2757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CE4E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57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C2A33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7879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เอกสารนี้สรุปสิ่งที่ระบบทำได้วันนี้ ปัญหาที่พบจากข้อมูลการใช้งานจริง แผนพัฒนา ค่าใช้จ่าย และรายได้ที่เป็นไปได้หากขายให้โรงเรียนอื่น ทุกตัวเลขวัดจากระบบจริง ไม่ใช่การประมาณ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เปิดด้วยตัวเลขก่อน: ช้า 6.8 วินาที แก้ได้ 15-20 เท่า ค่าใช้จ่าย 1,825 บาท และมีรายได้ปลายทาง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ตัวเลขนี้ไม่ใช่ความรู้สึก มาจากระบบวัดที่ฝังอยู่ในแอปเอง เก็บทุกการเรียกใช้จริงของผู้ใช้จริง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ปิดท้ายด้วยสิ่งที่ขอ 4 ข้อ และย้ำว่างานเดือนแรกเริ่มได้เลยโดยยังไม่มีค่าใช้จ่าย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A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5669280" cy="5669280"/>
          </a:xfrm>
          <a:prstGeom prst="ellipse">
            <a:avLst/>
          </a:prstGeom>
          <a:solidFill>
            <a:srgbClr val="2E6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3291840"/>
            <a:ext cx="3108960" cy="31089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ATOM NURSERY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แผนพัฒนาระบบ</a:t>
            </a:r>
            <a:endParaRPr lang="en-US" sz="4400" dirty="0">
              <a:latin typeface="Kanit" pitchFamily="2" charset="-34"/>
              <a:cs typeface="Kanit" pitchFamily="2" charset="-34"/>
            </a:endParaRPr>
          </a:p>
          <a:p>
            <a:pPr marL="0" indent="0" algn="l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ปี 2569</a:t>
            </a:r>
            <a:endParaRPr lang="en-US" sz="4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822960" y="3886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C6D6DE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ยกระดับจากระบบที่ใช้งานได้ ให้เป็นระบบที่ขายได้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4800600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1B4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480060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8E6EC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เสนอต่อผู้อำนวยการ  ·  15 กันยายน 2569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สรุปสำหรับผู้บริหาร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สี่ตัวเลขที่ต้องรู้</a:t>
            </a:r>
            <a:endParaRPr lang="en-US" sz="3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78608" cy="3063240"/>
          </a:xfrm>
          <a:prstGeom prst="roundRect">
            <a:avLst>
              <a:gd name="adj" fmla="val 3191"/>
            </a:avLst>
          </a:prstGeom>
          <a:solidFill>
            <a:srgbClr val="F6E4E2"/>
          </a:solidFill>
          <a:ln w="12700">
            <a:solidFill>
              <a:srgbClr val="F6E4E2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41248" y="2395728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9E2A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6.8</a:t>
            </a:r>
            <a:endParaRPr lang="en-US" sz="4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841248" y="32735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E2A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วินาที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41248" y="3730752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เวลารอเฉลี่ยต่อการกด 1 ครั้ง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  <a:p>
            <a:pPr marL="0" indent="0" algn="l">
              <a:lnSpc>
                <a:spcPts val="1900"/>
              </a:lnSpc>
              <a:buNone/>
            </a:pPr>
            <a:r>
              <a:rPr lang="en-US" sz="13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วัดจากผู้ใช้จริง 405 ครั้ง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438144" y="2148840"/>
            <a:ext cx="2578608" cy="3063240"/>
          </a:xfrm>
          <a:prstGeom prst="roundRect">
            <a:avLst>
              <a:gd name="adj" fmla="val 3191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39312" y="2395728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6B9080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15–20</a:t>
            </a:r>
            <a:endParaRPr lang="en-US" sz="4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3639312" y="32735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B9080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เท่า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3639312" y="3730752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ความเร็วที่จะดีขึ้น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  <a:p>
            <a:pPr marL="0" indent="0" algn="l">
              <a:lnSpc>
                <a:spcPts val="1900"/>
              </a:lnSpc>
              <a:buNone/>
            </a:pPr>
            <a:r>
              <a:rPr lang="en-US" sz="13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หลังย้ายฐานข้อมูล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36208" y="2148840"/>
            <a:ext cx="2578608" cy="3063240"/>
          </a:xfrm>
          <a:prstGeom prst="roundRect">
            <a:avLst>
              <a:gd name="adj" fmla="val 3191"/>
            </a:avLst>
          </a:prstGeom>
          <a:solidFill>
            <a:srgbClr val="E7EEF1"/>
          </a:solidFill>
          <a:ln w="12700">
            <a:solidFill>
              <a:srgbClr val="E7EEF1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37376" y="2395728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฿1,825</a:t>
            </a:r>
            <a:endParaRPr lang="en-US" sz="4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437376" y="32735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ต่อเดือน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437376" y="3730752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ค่าระบบใหม่ ทั้งโรงเรียน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  <a:p>
            <a:pPr marL="0" indent="0" algn="l">
              <a:lnSpc>
                <a:spcPts val="1900"/>
              </a:lnSpc>
              <a:buNone/>
            </a:pPr>
            <a:r>
              <a:rPr lang="en-US" sz="13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(ปัจจุบัน ฿0)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034272" y="2148840"/>
            <a:ext cx="2578608" cy="3063240"/>
          </a:xfrm>
          <a:prstGeom prst="roundRect">
            <a:avLst>
              <a:gd name="adj" fmla="val 3191"/>
            </a:avLst>
          </a:prstGeom>
          <a:solidFill>
            <a:srgbClr val="FBEEDC"/>
          </a:solidFill>
          <a:ln w="12700">
            <a:solidFill>
              <a:srgbClr val="FBEEDC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35440" y="2395728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฿199+</a:t>
            </a:r>
            <a:endParaRPr lang="en-US" sz="4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9235440" y="32735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ต่อเด็ก/เดือน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9235440" y="3730752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ราคาที่จะขายโรงเรียนอื่น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  <a:p>
            <a:pPr marL="0" indent="0" algn="l">
              <a:lnSpc>
                <a:spcPts val="1900"/>
              </a:lnSpc>
              <a:buNone/>
            </a:pPr>
            <a:r>
              <a:rPr lang="en-US" sz="13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กำไรขั้นต้น ~90%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ข้อสรุป : ปัญหาทั้งหมดของระบบวันนี้มาจากที่เดียว คือฐานข้อมูล  ·  การแก้จุดนั้นทำให้เร็วขึ้น และเปิดทางให้ขายระบบต่อได้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11475720" y="63550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2</a:t>
            </a:r>
            <a:endParaRPr lang="en-US" sz="1000" dirty="0">
              <a:latin typeface="Kanit" pitchFamily="2" charset="-34"/>
              <a:cs typeface="Kanit" pitchFamily="2" charset="-3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สถานะปัจจุบัน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วันนี้ระบบทำอะไรให้โรงเรียนแล้วบ้าง</a:t>
            </a:r>
            <a:endParaRPr lang="en-US" sz="3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ทุกข้อด้านล่างใช้งานจริงอยู่ทุกวัน และมีชุดทดสอบอัตโนมัติคุ้มครองอยู่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78608" cy="33832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42032"/>
            <a:ext cx="566928" cy="566928"/>
          </a:xfrm>
          <a:prstGeom prst="ellipse">
            <a:avLst/>
          </a:prstGeom>
          <a:solidFill>
            <a:srgbClr val="2E6E78"/>
          </a:solidFill>
          <a:ln w="12700">
            <a:solidFill>
              <a:srgbClr val="2E6E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25420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👶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1554480" y="263347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เด็กและผู้ปกครอง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914400" y="3310128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รับ-ส่งเด็กด้วย GPS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สมุดรายงานประจำวัน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พัฒนาการ DSPM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กราฟการเจริญเติบโต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ประกัน · วัคซีน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438144" y="2286000"/>
            <a:ext cx="2578608" cy="33832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75888" y="2542032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75888" y="25420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💰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4352544" y="263347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การเงิน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3712464" y="3310128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ออกบิล · ติดตามค้างชำระ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ตรวจสลิปอัตโนมัติ SlipOK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ชำระล่วงหน้า (ส่วนลด)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วันตัดรอบบิล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ค่าใช้จ่ายเพิ่มเติม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236208" y="2286000"/>
            <a:ext cx="2578608" cy="33832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73952" y="2542032"/>
            <a:ext cx="566928" cy="566928"/>
          </a:xfrm>
          <a:prstGeom prst="ellipse">
            <a:avLst/>
          </a:prstGeom>
          <a:solidFill>
            <a:srgbClr val="6B9080"/>
          </a:solidFill>
          <a:ln w="12700">
            <a:solidFill>
              <a:srgbClr val="6B90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73952" y="25420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👩‍🏫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7150608" y="263347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บุคลากร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6510528" y="3310128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ลงเวลาเข้า-ออกงาน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ลา 2 ขั้นอนุมัติ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OT · OT วันหยุด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เงินเดือน + สลิป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สิทธิการลารายคน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34272" y="2286000"/>
            <a:ext cx="2578608" cy="33832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72016" y="2542032"/>
            <a:ext cx="566928" cy="566928"/>
          </a:xfrm>
          <a:prstGeom prst="ellipse">
            <a:avLst/>
          </a:prstGeom>
          <a:solidFill>
            <a:srgbClr val="9E2A2B"/>
          </a:solidFill>
          <a:ln w="12700">
            <a:solidFill>
              <a:srgbClr val="9E2A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72016" y="25420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🛡️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9948672" y="263347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ความปลอดภัย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9308592" y="3310128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รายงานอุบัติเหตุ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ติดตามการขาดเรียน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แจ้งเตือนฉุกเฉินทาง LINE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บันทึกการแก้ไขทุกครั้ง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สำรองข้อมูลทุกวัน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11475720" y="63550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3</a:t>
            </a:r>
            <a:endParaRPr lang="en-US" sz="1000" dirty="0">
              <a:latin typeface="Kanit" pitchFamily="2" charset="-34"/>
              <a:cs typeface="Kanit" pitchFamily="2" charset="-3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ขนาดของสิ่งที่สร้างไปแล้ว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ระบบนี้ไม่เล็ก</a:t>
            </a:r>
            <a:endParaRPr lang="en-US" sz="3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456432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35000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36,676</a:t>
            </a:r>
            <a:endParaRPr lang="en-US" sz="3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14400" y="3017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บรรทัดโค้ด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325112" y="2148840"/>
            <a:ext cx="3456432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99432" y="235000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151</a:t>
            </a:r>
            <a:endParaRPr lang="en-US" sz="3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4599432" y="3017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คำสั่งเชื่อมต่อ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010144" y="2148840"/>
            <a:ext cx="3456432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84464" y="235000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27</a:t>
            </a:r>
            <a:endParaRPr lang="en-US" sz="3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284464" y="3017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หน้าจอ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40080" y="3840480"/>
            <a:ext cx="3456432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4400" y="404164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48</a:t>
            </a:r>
            <a:endParaRPr lang="en-US" sz="3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914400" y="4709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ตารางข้อมูล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25112" y="3840480"/>
            <a:ext cx="3456432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599432" y="404164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137</a:t>
            </a:r>
            <a:endParaRPr lang="en-US" sz="3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4599432" y="4709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ชุดทดสอบ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010144" y="3840480"/>
            <a:ext cx="3456432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284464" y="404164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5</a:t>
            </a:r>
            <a:endParaRPr lang="en-US" sz="3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8284464" y="4709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บทบาทผู้ใช้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0080" y="5623560"/>
            <a:ext cx="10881360" cy="749808"/>
          </a:xfrm>
          <a:prstGeom prst="roundRect">
            <a:avLst>
              <a:gd name="adj" fmla="val 10976"/>
            </a:avLst>
          </a:prstGeom>
          <a:solidFill>
            <a:srgbClr val="E7EEF1"/>
          </a:solidFill>
          <a:ln w="12700">
            <a:solidFill>
              <a:srgbClr val="E7EEF1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14400" y="562356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137 ชุดทดสอบอัตโนมัติ คือเหตุผลที่ระบบนี้ย้ายได้อย่างปลอดภัย — กฎทุกข้อถูกเขียนไว้แล้ว พร้อมเหตุการณ์จริงที่ทำให้เกิดกฎนั้น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11475720" y="63550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4</a:t>
            </a:r>
            <a:endParaRPr lang="en-US" sz="1000" dirty="0">
              <a:latin typeface="Kanit" pitchFamily="2" charset="-34"/>
              <a:cs typeface="Kanit" pitchFamily="2" charset="-3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3A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ปัญหา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ทุกการกด 1 ครั้ง</a:t>
            </a:r>
            <a:endParaRPr lang="en-US" sz="3000" dirty="0">
              <a:latin typeface="Kanit" pitchFamily="2" charset="-34"/>
              <a:cs typeface="Kanit" pitchFamily="2" charset="-34"/>
            </a:endParaRPr>
          </a:p>
          <a:p>
            <a:pPr marL="0" indent="0" algn="l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ผู้ใช้รอเฉลี่ย</a:t>
            </a:r>
            <a:endParaRPr lang="en-US" sz="3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66928" y="27889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00" b="1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6.8</a:t>
            </a:r>
            <a:endParaRPr lang="en-US" sz="10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3063240" y="37033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วินาที</a:t>
            </a:r>
            <a:endParaRPr lang="en-US" sz="26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40080" y="4709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C6D6DE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และ 5% ของการกด รอเกิน 28.8 วินาที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492240" y="1325880"/>
            <a:ext cx="5029200" cy="4160520"/>
          </a:xfrm>
          <a:prstGeom prst="roundRect">
            <a:avLst>
              <a:gd name="adj" fmla="val 1978"/>
            </a:avLst>
          </a:prstGeom>
          <a:solidFill>
            <a:srgbClr val="1B4A5F"/>
          </a:solidFill>
          <a:ln w="12700">
            <a:solidFill>
              <a:srgbClr val="2E6E7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12280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ผู้ใช้เจออะไร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812280" y="2103120"/>
            <a:ext cx="4434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DCE9EE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ผู้ปกครองยืนหน้าโรงเรียน กดรับกลับ แล้วรอ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DCE9EE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คุณครูเช็กชื่อตอนเช้า ทีละคน ทีละ 7 วินาที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DCE9EE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แอดมินออกบิล บางครั้งรอ 2 นาที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DCE9EE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28 วินาที คือจุดที่ผู้ปกครองคิดว่าแอปเสีย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812280" y="4526280"/>
            <a:ext cx="4389120" cy="777240"/>
          </a:xfrm>
          <a:prstGeom prst="roundRect">
            <a:avLst>
              <a:gd name="adj" fmla="val 10588"/>
            </a:avLst>
          </a:prstGeom>
          <a:solidFill>
            <a:srgbClr val="0B2835"/>
          </a:solidFill>
          <a:ln w="12700">
            <a:solidFill>
              <a:srgbClr val="0B283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0" y="452628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9FB8C2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วัดจริงจาก 14,782 ครั้ง · 405 รอบการใช้งาน</a:t>
            </a:r>
            <a:endParaRPr lang="en-US" sz="12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11475720" y="63550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5</a:t>
            </a:r>
            <a:endParaRPr lang="en-US" sz="1000" dirty="0">
              <a:latin typeface="Kanit" pitchFamily="2" charset="-34"/>
              <a:cs typeface="Kanit" pitchFamily="2" charset="-3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สาเหตุ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เราใช้ Google Sheets เป็นฐานข้อมูล</a:t>
            </a:r>
            <a:endParaRPr lang="en-US" sz="3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มันเคยเป็นทางเลือกที่ถูกต้อง — เริ่มได้เร็ว ฟรี และโรงเรียนเปิดดูข้อมูลเองได้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212080" cy="3200400"/>
          </a:xfrm>
          <a:prstGeom prst="roundRect">
            <a:avLst>
              <a:gd name="adj" fmla="val 2571"/>
            </a:avLst>
          </a:prstGeom>
          <a:solidFill>
            <a:srgbClr val="F6E4E2"/>
          </a:solidFill>
          <a:ln w="12700">
            <a:solidFill>
              <a:srgbClr val="EDCFCC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560320"/>
            <a:ext cx="502920" cy="502920"/>
          </a:xfrm>
          <a:prstGeom prst="ellipse">
            <a:avLst/>
          </a:prstGeom>
          <a:solidFill>
            <a:srgbClr val="9E2A2B"/>
          </a:solidFill>
          <a:ln w="12700">
            <a:solidFill>
              <a:srgbClr val="9E2A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!</a:t>
            </a:r>
            <a:endParaRPr lang="en-US" sz="2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1572768" y="26334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2A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ข้อจำกัดที่แก้ไม่ได้</a:t>
            </a:r>
            <a:endParaRPr lang="en-US" sz="16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960120" y="324612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Google รันได้ทีละคำสั่งต่อผู้ใช้ 1 คน — ต่อคิวกันเอง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Sheets ไม่ใช่ฐานข้อมูล ไม่มีดัชนีค้นหา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ไม่มี transaction — ออกบิลล้มกลางคัน = ออกไปครึ่งห้อง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ทุกตัวเลขถูกเก็บเป็นทศนิยมโดยประมาณ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09360" y="2286000"/>
            <a:ext cx="5212080" cy="3200400"/>
          </a:xfrm>
          <a:prstGeom prst="roundRect">
            <a:avLst>
              <a:gd name="adj" fmla="val 2571"/>
            </a:avLst>
          </a:prstGeom>
          <a:solidFill>
            <a:srgbClr val="E4EDE7"/>
          </a:solidFill>
          <a:ln w="12700">
            <a:solidFill>
              <a:srgbClr val="CFE0D5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0" y="2560320"/>
            <a:ext cx="502920" cy="502920"/>
          </a:xfrm>
          <a:prstGeom prst="ellipse">
            <a:avLst/>
          </a:prstGeom>
          <a:solidFill>
            <a:srgbClr val="6B9080"/>
          </a:solidFill>
          <a:ln w="12700">
            <a:solidFill>
              <a:srgbClr val="6B908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✓</a:t>
            </a:r>
            <a:endParaRPr lang="en-US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7242048" y="26334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F6B5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ฐานข้อมูลจริง (PostgreSQL)</a:t>
            </a:r>
            <a:endParaRPr lang="en-US" sz="16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629400" y="324612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รองรับคนเข้าพร้อมกันหลายร้อยคน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ค้นหาจากดัชนี — หลักมิลลิวินาที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transaction — สำเร็จทั้งหมด หรือไม่เกิดอะไรเลย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ชนิดข้อมูลตัวเงินที่แม่นยำ 100%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11475720" y="63550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6</a:t>
            </a:r>
            <a:endParaRPr lang="en-US" sz="1000" dirty="0">
              <a:latin typeface="Kanit" pitchFamily="2" charset="-34"/>
              <a:cs typeface="Kanit" pitchFamily="2" charset="-3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9E2A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สิ่งที่ต้องรายงานให้ทราบ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ตอนนี้ระบบคำนวณเงินด้วยทศนิยมโดยประมาณ</a:t>
            </a:r>
            <a:endParaRPr lang="en-US" sz="3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6E4E2"/>
          </a:solidFill>
          <a:ln w="12700">
            <a:solidFill>
              <a:srgbClr val="EDCFCC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Google Sheets เก็บทุกตัวเลขเป็นทศนิยมแบบประมาณ (floating point) — และเราคำนวณส่วนลดชำระล่วงหน้า OT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กองทุนสำรองเลี้ยงชีพ และเงินเดือน ด้วยตัวเลขแบบนั้น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10881360" cy="749808"/>
          </a:xfrm>
          <a:prstGeom prst="roundRect">
            <a:avLst>
              <a:gd name="adj" fmla="val 10976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3648456"/>
            <a:ext cx="493776" cy="493776"/>
          </a:xfrm>
          <a:prstGeom prst="ellipse">
            <a:avLst/>
          </a:prstGeom>
          <a:solidFill>
            <a:srgbClr val="6B9080"/>
          </a:solidFill>
          <a:ln w="12700">
            <a:solidFill>
              <a:srgbClr val="6B90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36484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508760" y="3520440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6B9080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ยังไม่เคยเกิดปัญหา</a:t>
            </a:r>
            <a:endParaRPr lang="en-US" sz="14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4206240" y="3520440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เพราะตัวเลขค่าเทอมของโรงเรียนเป็นเลขกลม ส่วนลดจึงลงตัวพอดี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10881360" cy="749808"/>
          </a:xfrm>
          <a:prstGeom prst="roundRect">
            <a:avLst>
              <a:gd name="adj" fmla="val 10976"/>
            </a:avLst>
          </a:prstGeom>
          <a:solidFill>
            <a:srgbClr val="FBEEDC"/>
          </a:solidFill>
          <a:ln w="12700">
            <a:solidFill>
              <a:srgbClr val="FBEE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4517136"/>
            <a:ext cx="493776" cy="49377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5171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2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508760" y="4389120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แต่เป็นความเสี่ยงจริง</a:t>
            </a:r>
            <a:endParaRPr lang="en-US" sz="14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4206240" y="4389120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วันที่มีเลขไม่กลม ผลต่างระดับสตางค์จะโผล่ขึ้นมาแบบเงียบ ๆ ในสลิปเงินเดือน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5257800"/>
            <a:ext cx="10881360" cy="749808"/>
          </a:xfrm>
          <a:prstGeom prst="roundRect">
            <a:avLst>
              <a:gd name="adj" fmla="val 10976"/>
            </a:avLst>
          </a:prstGeom>
          <a:solidFill>
            <a:srgbClr val="E7EEF1"/>
          </a:solidFill>
          <a:ln w="12700">
            <a:solidFill>
              <a:srgbClr val="E7EE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5385816"/>
            <a:ext cx="493776" cy="493776"/>
          </a:xfrm>
          <a:prstGeom prst="ellipse">
            <a:avLst/>
          </a:prstGeom>
          <a:solidFill>
            <a:srgbClr val="2E6E78"/>
          </a:solidFill>
          <a:ln w="12700">
            <a:solidFill>
              <a:srgbClr val="2E6E7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53858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3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508760" y="5257800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ฐานข้อมูลใหม่แก้ได้ทันที</a:t>
            </a:r>
            <a:endParaRPr lang="en-US" sz="14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4206240" y="5257800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PostgreSQL มีชนิดข้อมูลตัวเงินที่แม่นยำเป๊ะ ไม่มีการปัดเศษซ่อนอยู่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640080" y="614476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เรื่องเงินคือความน่าเชื่อถือของระบบ — ข้อนี้ข้อเดียวก็คุ้มค่าที่จะย้ายแล้ว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11475720" y="63550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7</a:t>
            </a:r>
            <a:endParaRPr lang="en-US" sz="1000" dirty="0">
              <a:latin typeface="Kanit" pitchFamily="2" charset="-34"/>
              <a:cs typeface="Kanit" pitchFamily="2" charset="-3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โครงสร้างใหม่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เครื่องมือที่จะใช้ และเหตุผล</a:t>
            </a:r>
            <a:endParaRPr lang="en-US" sz="3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34924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478024"/>
            <a:ext cx="548640" cy="548640"/>
          </a:xfrm>
          <a:prstGeom prst="ellipse">
            <a:avLst/>
          </a:prstGeom>
          <a:solidFill>
            <a:srgbClr val="2E6E78"/>
          </a:solidFill>
          <a:ln w="12700">
            <a:solidFill>
              <a:srgbClr val="2E6E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24780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S</a:t>
            </a:r>
            <a:endParaRPr lang="en-US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1536192" y="230428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Supabase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3840480" y="233172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ฐานข้อมูล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536192" y="26974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PostgreSQL · ตัวเงินแม่นยำ · แยกข้อมูลแต่ละโรงเรียนที่ระดับฐานข้อมูล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17920" y="2148840"/>
            <a:ext cx="534924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37376" y="2478024"/>
            <a:ext cx="548640" cy="548640"/>
          </a:xfrm>
          <a:prstGeom prst="ellipse">
            <a:avLst/>
          </a:prstGeom>
          <a:solidFill>
            <a:srgbClr val="123A4F"/>
          </a:solidFill>
          <a:ln w="12700">
            <a:solidFill>
              <a:srgbClr val="123A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7376" y="24780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V</a:t>
            </a:r>
            <a:endParaRPr lang="en-US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7114032" y="230428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Vercel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9418320" y="233172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ที่ตั้งเว็บ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7114032" y="26974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เซิร์ฟเวอร์สิงคโปร์ ใกล้ไทยที่สุด · ตรวจงานได้ก่อนขึ้นจริง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534924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9536" y="3895344"/>
            <a:ext cx="548640" cy="548640"/>
          </a:xfrm>
          <a:prstGeom prst="ellipse">
            <a:avLst/>
          </a:prstGeom>
          <a:solidFill>
            <a:srgbClr val="6B9080"/>
          </a:solidFill>
          <a:ln w="12700">
            <a:solidFill>
              <a:srgbClr val="6B90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" y="38953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C</a:t>
            </a:r>
            <a:endParaRPr lang="en-US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536192" y="372160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Cloudflare R2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3840480" y="3749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6B9080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เก็บรูปภาพ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1536192" y="411480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ค่าโหลดรูปฟรี — สำคัญมากกับแอปที่เต็มไปด้วยรูปเด็ก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17920" y="3566160"/>
            <a:ext cx="534924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37376" y="3895344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37376" y="38953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n</a:t>
            </a:r>
            <a:endParaRPr lang="en-US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7114032" y="372160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n8n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9418320" y="3749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งานอัตโนมัติ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7114032" y="411480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แจ้งเตือนเช้า-เย็น · สำรองข้อมูล · ออกบิลตามรอบ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0080" y="4983480"/>
            <a:ext cx="534924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59536" y="5312664"/>
            <a:ext cx="548640" cy="548640"/>
          </a:xfrm>
          <a:prstGeom prst="ellipse">
            <a:avLst/>
          </a:prstGeom>
          <a:solidFill>
            <a:srgbClr val="06A34A"/>
          </a:solidFill>
          <a:ln w="12700">
            <a:solidFill>
              <a:srgbClr val="06A34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59536" y="5312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L</a:t>
            </a:r>
            <a:endParaRPr lang="en-US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1536192" y="513892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LINE (เดิม)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3840480" y="51663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06A34A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ทางเข้าระบบ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1536192" y="553212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ผู้ปกครองยังเข้าผ่าน LINE เหมือนเดิม ไม่ต้องเรียนรู้ใหม่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217920" y="4983480"/>
            <a:ext cx="534924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37376" y="5312664"/>
            <a:ext cx="548640" cy="548640"/>
          </a:xfrm>
          <a:prstGeom prst="ellipse">
            <a:avLst/>
          </a:prstGeom>
          <a:solidFill>
            <a:srgbClr val="9E2A2B"/>
          </a:solidFill>
          <a:ln w="12700">
            <a:solidFill>
              <a:srgbClr val="9E2A2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37376" y="5312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S</a:t>
            </a:r>
            <a:endParaRPr lang="en-US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7" name="Text 35"/>
          <p:cNvSpPr txBox="1"/>
          <p:nvPr/>
        </p:nvSpPr>
        <p:spPr>
          <a:xfrm>
            <a:off x="7114032" y="513892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SlipOK (เดิม)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8" name="Text 36"/>
          <p:cNvSpPr txBox="1"/>
          <p:nvPr/>
        </p:nvSpPr>
        <p:spPr>
          <a:xfrm>
            <a:off x="9418320" y="51663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9E2A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ตรวจสลิป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9" name="Text 37"/>
          <p:cNvSpPr txBox="1"/>
          <p:nvPr/>
        </p:nvSpPr>
        <p:spPr>
          <a:xfrm>
            <a:off x="7114032" y="553212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ไม่แตะต้อง — มันทำงานได้ และเป็นเส้นทางเงิน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0" name="Text 38"/>
          <p:cNvSpPr txBox="1"/>
          <p:nvPr/>
        </p:nvSpPr>
        <p:spPr>
          <a:xfrm>
            <a:off x="11475720" y="63550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8</a:t>
            </a:r>
            <a:endParaRPr lang="en-US" sz="1000" dirty="0">
              <a:latin typeface="Kanit" pitchFamily="2" charset="-34"/>
              <a:cs typeface="Kanit" pitchFamily="2" charset="-3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แนวทางการทำงาน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แยกเป็น 2 สาย — ของเดิมใช้งานได้ตลอดเวลา</a:t>
            </a:r>
            <a:endParaRPr lang="en-US" sz="3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ระบบใหม่ค่อย ๆ โตข้างระบบเดิม และรับงานไปทีละส่วน · ไม่มีวันที่ต้อง "ปิดระบบเพื่อย้าย"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E7EEF1"/>
          </a:solidFill>
          <a:ln w="12700">
            <a:solidFill>
              <a:srgbClr val="D3E0E5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560320"/>
            <a:ext cx="548640" cy="548640"/>
          </a:xfrm>
          <a:prstGeom prst="ellipse">
            <a:avLst/>
          </a:prstGeom>
          <a:solidFill>
            <a:srgbClr val="2E6E78"/>
          </a:solidFill>
          <a:ln w="12700">
            <a:solidFill>
              <a:srgbClr val="2E6E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A</a:t>
            </a:r>
            <a:endParaRPr lang="en-US" sz="19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1600200" y="2606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ทำให้เร็ว</a:t>
            </a:r>
            <a:endParaRPr lang="en-US" sz="19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60020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โรงเรียนได้ประโยชน์ก่อน</a:t>
            </a:r>
            <a:endParaRPr lang="en-US" sz="12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960120" y="361188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ออกแบบฐานข้อมูลใหม่ 48 ตาราง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เชื่อมสองทาง Sheets ↔ ฐานข้อมูลใหม่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ย้าย "การอ่าน" — ตรงนี้ความเร็วเปลี่ยน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ย้าย "การเขียน" — เรื่องเงินท้ายสุด ตรวจทุกบาท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Sheets เหลือไว้เป็นกระจกอ่านอย่างเดียว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217920" y="2286000"/>
            <a:ext cx="5303520" cy="3566160"/>
          </a:xfrm>
          <a:prstGeom prst="roundRect">
            <a:avLst>
              <a:gd name="adj" fmla="val 2308"/>
            </a:avLst>
          </a:prstGeom>
          <a:solidFill>
            <a:srgbClr val="FBEEDC"/>
          </a:solidFill>
          <a:ln w="12700">
            <a:solidFill>
              <a:srgbClr val="F0DCC2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0" y="2560320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B</a:t>
            </a:r>
            <a:endParaRPr lang="en-US" sz="19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7178040" y="26060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ทำให้ขายได้</a:t>
            </a:r>
            <a:endParaRPr lang="en-US" sz="19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7178040" y="30175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สิ่งที่จะนำไปเสนอโรงเรียนอื่น</a:t>
            </a:r>
            <a:endParaRPr lang="en-US" sz="12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537960" y="361188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ออกแบบหน้าตาใหม่ทั้งหมด (UX/UI)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ระบบรองรับหลายโรงเรียน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หน้าจอควบคุมสำหรับเปิด-ปิดฟังก์ชัน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ขึ้น Google Play Store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ระบบอัปเดตแบบทยอยปล่อย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สาย A เสร็จก่อน ประมาณเดือนที่ 4–5 · สาย B ทำต่อเนื่องไปจนพร้อมขาย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11475720" y="63550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9</a:t>
            </a:r>
            <a:endParaRPr lang="en-US" sz="1000" dirty="0">
              <a:latin typeface="Kanit" pitchFamily="2" charset="-34"/>
              <a:cs typeface="Kanit" pitchFamily="2" charset="-3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งานชิ้นแรก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คู่มือการใช้งานครบทุกบทบาท</a:t>
            </a:r>
            <a:endParaRPr lang="en-US" sz="3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ทำก่อนเขียนโค้ดแม้แต่บรรทัดเดียว — เพราะมันคือข้อกำหนดของระบบใหม่ และเป็นคู่มือพนักงานไปในตัว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2048256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53312" y="2606040"/>
            <a:ext cx="621792" cy="621792"/>
          </a:xfrm>
          <a:prstGeom prst="ellipse">
            <a:avLst/>
          </a:prstGeom>
          <a:solidFill>
            <a:srgbClr val="2E6E78"/>
          </a:solidFill>
          <a:ln w="12700">
            <a:solidFill>
              <a:srgbClr val="2E6E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53312" y="26060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📄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731520" y="3337560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ผู้ปกครอง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731520" y="3694176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7 หน้าจอ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871216" y="2377440"/>
            <a:ext cx="2048256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84448" y="2606040"/>
            <a:ext cx="621792" cy="621792"/>
          </a:xfrm>
          <a:prstGeom prst="ellipse">
            <a:avLst/>
          </a:prstGeom>
          <a:solidFill>
            <a:srgbClr val="6B9080"/>
          </a:solidFill>
          <a:ln w="12700">
            <a:solidFill>
              <a:srgbClr val="6B908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84448" y="26060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📄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2962656" y="3337560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คุณครู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2962656" y="3694176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9 หน้าจอ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102352" y="2377440"/>
            <a:ext cx="2048256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15584" y="2606040"/>
            <a:ext cx="621792" cy="62179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15584" y="26060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📄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5193792" y="3337560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หัวหน้าครู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5193792" y="3694176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+ อนุมัติ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33488" y="2377440"/>
            <a:ext cx="2048256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46720" y="2606040"/>
            <a:ext cx="621792" cy="621792"/>
          </a:xfrm>
          <a:prstGeom prst="ellipse">
            <a:avLst/>
          </a:prstGeom>
          <a:solidFill>
            <a:srgbClr val="123A4F"/>
          </a:solidFill>
          <a:ln w="12700">
            <a:solidFill>
              <a:srgbClr val="123A4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0" y="26060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📄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7424928" y="3337560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ผู้ดูแลระบบ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7424928" y="3694176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11 หน้าจอ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9564624" y="2377440"/>
            <a:ext cx="2048256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277856" y="2606040"/>
            <a:ext cx="621792" cy="621792"/>
          </a:xfrm>
          <a:prstGeom prst="ellipse">
            <a:avLst/>
          </a:prstGeom>
          <a:solidFill>
            <a:srgbClr val="62757F"/>
          </a:solidFill>
          <a:ln w="12700">
            <a:solidFill>
              <a:srgbClr val="62757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277856" y="26060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📄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9656064" y="3337560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ผู้ตรวจสอบ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9656064" y="3694176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อ่านอย่างเดียว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343400"/>
            <a:ext cx="1088136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960120" y="45537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แต่ละเล่มบอกอะไร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96012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เห็นอะไรได้บ้าง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960120" y="53492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ทุกหน้าจอที่บทบาทนั้นเข้าถึงได้</a:t>
            </a:r>
            <a:endParaRPr lang="en-US" sz="12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448056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ทำอะไรได้บ้าง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4480560" y="53492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ทุกปุ่ม และผลของการกดปุ่มนั้น</a:t>
            </a:r>
            <a:endParaRPr lang="en-US" sz="12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6" name="Text 34"/>
          <p:cNvSpPr txBox="1"/>
          <p:nvPr/>
        </p:nvSpPr>
        <p:spPr>
          <a:xfrm>
            <a:off x="800100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ทำอะไรไม่ได้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7" name="Text 35"/>
          <p:cNvSpPr txBox="1"/>
          <p:nvPr/>
        </p:nvSpPr>
        <p:spPr>
          <a:xfrm>
            <a:off x="8001000" y="53492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ข้อห้าม พร้อมข้อความที่ระบบจะตอบกลับ</a:t>
            </a:r>
            <a:endParaRPr lang="en-US" sz="12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8" name="Text 36"/>
          <p:cNvSpPr txBox="1"/>
          <p:nvPr/>
        </p:nvSpPr>
        <p:spPr>
          <a:xfrm>
            <a:off x="11475720" y="63550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10</a:t>
            </a:r>
            <a:endParaRPr lang="en-US" sz="1000" dirty="0">
              <a:latin typeface="Kanit" pitchFamily="2" charset="-34"/>
              <a:cs typeface="Kanit" pitchFamily="2" charset="-3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ระบบขายต่อ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หนึ่งระบบ รองรับหลายโรงเรียน</a:t>
            </a:r>
            <a:endParaRPr lang="en-US" sz="3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ข้อมูลแต่ละโรงเรียนถูกกั้นที่ระดับฐานข้อมูล — ไม่ใช่ที่โค้ด ฐานข้อมูลจะปฏิเสธเองถ้าข้ามโรงเรียน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291840" cy="3566160"/>
          </a:xfrm>
          <a:prstGeom prst="roundRect">
            <a:avLst>
              <a:gd name="adj" fmla="val 2500"/>
            </a:avLst>
          </a:prstGeom>
          <a:solidFill>
            <a:srgbClr val="123A4F"/>
          </a:solidFill>
          <a:ln w="12700">
            <a:solidFill>
              <a:srgbClr val="123A4F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2560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หน้าจอควบคุม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ของเรา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914400" y="3566160"/>
            <a:ext cx="2834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CFDEE5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เพิ่ม/ระงับโรงเรียน</a:t>
            </a:r>
            <a:endParaRPr lang="en-US" sz="125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CFDEE5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เปิด-ปิดฟังก์ชันรายโรงเรียน</a:t>
            </a:r>
            <a:endParaRPr lang="en-US" sz="125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CFDEE5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ดูความเร็วรายโรงเรียน</a:t>
            </a:r>
            <a:endParaRPr lang="en-US" sz="125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CFDEE5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ออกใบแจ้งหนี้</a:t>
            </a:r>
            <a:endParaRPr lang="en-US" sz="1250" dirty="0">
              <a:latin typeface="Kanit" pitchFamily="2" charset="-34"/>
              <a:cs typeface="Kanit" pitchFamily="2" charset="-34"/>
            </a:endParaRPr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CFDEE5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ทยอยปล่อยอัปเดต</a:t>
            </a:r>
            <a:endParaRPr lang="en-US" sz="12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343400" y="2286000"/>
            <a:ext cx="71780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2523744"/>
            <a:ext cx="566928" cy="566928"/>
          </a:xfrm>
          <a:prstGeom prst="ellipse">
            <a:avLst/>
          </a:prstGeom>
          <a:solidFill>
            <a:srgbClr val="6B9080"/>
          </a:solidFill>
          <a:ln w="12700">
            <a:solidFill>
              <a:srgbClr val="6B90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523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🏫</a:t>
            </a:r>
            <a:endParaRPr lang="en-US" sz="16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5285232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โรงเรียน Atom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285232" y="285292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Package C · beta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8595360" y="228600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ข้อมูลแยกขาดจากกัน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343400" y="3520440"/>
            <a:ext cx="71780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0" y="3758184"/>
            <a:ext cx="566928" cy="566928"/>
          </a:xfrm>
          <a:prstGeom prst="ellipse">
            <a:avLst/>
          </a:prstGeom>
          <a:solidFill>
            <a:srgbClr val="2E6E78"/>
          </a:solidFill>
          <a:ln w="12700">
            <a:solidFill>
              <a:srgbClr val="2E6E7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37581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🏫</a:t>
            </a:r>
            <a:endParaRPr lang="en-US" sz="16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5285232" y="3703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โรงเรียน B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5285232" y="408736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Package A · stable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8595360" y="352044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ข้อมูลแยกขาดจากกัน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343400" y="4754880"/>
            <a:ext cx="71780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0" y="4992624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0" y="49926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🏫</a:t>
            </a:r>
            <a:endParaRPr lang="en-US" sz="16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5285232" y="4937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โรงเรียน C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5285232" y="532180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Package B · stable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8595360" y="475488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ข้อมูลแยกขาดจากกัน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เพิ่มโรงเรียนใหม่ = สร้างข้อมูล 1 แถว แล้วเลือกแพ็กเกจ ไม่ต้องติดตั้งระบบใหม่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11475720" y="63550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11</a:t>
            </a:r>
            <a:endParaRPr lang="en-US" sz="1000" dirty="0">
              <a:latin typeface="Kanit" pitchFamily="2" charset="-34"/>
              <a:cs typeface="Kanit" pitchFamily="2" charset="-3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ของที่ขายได้ มีอยู่แล้ว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16 ฟังก์ชันที่เปิด-ปิดได้รายโรงเรียน</a:t>
            </a:r>
            <a:endParaRPr lang="en-US" sz="3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ทั้งหมดนี้สร้างเสร็จและผ่านการทดสอบแล้ว ไม่ใช่สิ่งที่ต้องสร้างใหม่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6060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569464"/>
            <a:ext cx="457200" cy="274320"/>
          </a:xfrm>
          <a:prstGeom prst="roundRect">
            <a:avLst>
              <a:gd name="adj" fmla="val 46667"/>
            </a:avLst>
          </a:prstGeom>
          <a:solidFill>
            <a:srgbClr val="6B90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3272" y="2592324"/>
            <a:ext cx="224028" cy="2240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71600" y="2331720"/>
            <a:ext cx="1783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เงินเดือน + สลิป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438144" y="2331720"/>
            <a:ext cx="26060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02736" y="2569464"/>
            <a:ext cx="457200" cy="274320"/>
          </a:xfrm>
          <a:prstGeom prst="roundRect">
            <a:avLst>
              <a:gd name="adj" fmla="val 46667"/>
            </a:avLst>
          </a:prstGeom>
          <a:solidFill>
            <a:srgbClr val="6B90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31336" y="2592324"/>
            <a:ext cx="224028" cy="2240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69664" y="2331720"/>
            <a:ext cx="1783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OT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236208" y="2331720"/>
            <a:ext cx="26060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2569464"/>
            <a:ext cx="457200" cy="274320"/>
          </a:xfrm>
          <a:prstGeom prst="roundRect">
            <a:avLst>
              <a:gd name="adj" fmla="val 46667"/>
            </a:avLst>
          </a:prstGeom>
          <a:solidFill>
            <a:srgbClr val="6B90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29400" y="2592324"/>
            <a:ext cx="224028" cy="2240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67728" y="2331720"/>
            <a:ext cx="1783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OT วันหยุด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034272" y="2331720"/>
            <a:ext cx="26060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98864" y="2569464"/>
            <a:ext cx="457200" cy="274320"/>
          </a:xfrm>
          <a:prstGeom prst="roundRect">
            <a:avLst>
              <a:gd name="adj" fmla="val 46667"/>
            </a:avLst>
          </a:prstGeom>
          <a:solidFill>
            <a:srgbClr val="6B90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27464" y="2592324"/>
            <a:ext cx="224028" cy="2240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65792" y="2331720"/>
            <a:ext cx="1783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พัฒนาการ DSPM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40080" y="3264408"/>
            <a:ext cx="26060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3502152"/>
            <a:ext cx="457200" cy="274320"/>
          </a:xfrm>
          <a:prstGeom prst="roundRect">
            <a:avLst>
              <a:gd name="adj" fmla="val 46667"/>
            </a:avLst>
          </a:prstGeom>
          <a:solidFill>
            <a:srgbClr val="6B90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33272" y="3525012"/>
            <a:ext cx="224028" cy="2240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371600" y="3264408"/>
            <a:ext cx="1783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กราฟการเจริญเติบโต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438144" y="3264408"/>
            <a:ext cx="26060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02736" y="3502152"/>
            <a:ext cx="457200" cy="274320"/>
          </a:xfrm>
          <a:prstGeom prst="roundRect">
            <a:avLst>
              <a:gd name="adj" fmla="val 46667"/>
            </a:avLst>
          </a:prstGeom>
          <a:solidFill>
            <a:srgbClr val="6B90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31336" y="3525012"/>
            <a:ext cx="224028" cy="2240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69664" y="3264408"/>
            <a:ext cx="1783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ประกันนักเรียน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236208" y="3264408"/>
            <a:ext cx="26060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3502152"/>
            <a:ext cx="457200" cy="274320"/>
          </a:xfrm>
          <a:prstGeom prst="roundRect">
            <a:avLst>
              <a:gd name="adj" fmla="val 46667"/>
            </a:avLst>
          </a:prstGeom>
          <a:solidFill>
            <a:srgbClr val="6B90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29400" y="3525012"/>
            <a:ext cx="224028" cy="2240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67728" y="3264408"/>
            <a:ext cx="1783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รายงานอุบัติเหตุ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9034272" y="3264408"/>
            <a:ext cx="26060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98864" y="3502152"/>
            <a:ext cx="457200" cy="274320"/>
          </a:xfrm>
          <a:prstGeom prst="roundRect">
            <a:avLst>
              <a:gd name="adj" fmla="val 46667"/>
            </a:avLst>
          </a:prstGeom>
          <a:solidFill>
            <a:srgbClr val="6B90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27464" y="3525012"/>
            <a:ext cx="224028" cy="2240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765792" y="3264408"/>
            <a:ext cx="1783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แบบสอบถาม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40080" y="4197096"/>
            <a:ext cx="26060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434840"/>
            <a:ext cx="457200" cy="274320"/>
          </a:xfrm>
          <a:prstGeom prst="roundRect">
            <a:avLst>
              <a:gd name="adj" fmla="val 46667"/>
            </a:avLst>
          </a:prstGeom>
          <a:solidFill>
            <a:srgbClr val="6B90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33272" y="4457700"/>
            <a:ext cx="224028" cy="2240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371600" y="4197096"/>
            <a:ext cx="1783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เมนูอาหาร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3438144" y="4197096"/>
            <a:ext cx="26060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02736" y="4434840"/>
            <a:ext cx="457200" cy="274320"/>
          </a:xfrm>
          <a:prstGeom prst="roundRect">
            <a:avLst>
              <a:gd name="adj" fmla="val 46667"/>
            </a:avLst>
          </a:prstGeom>
          <a:solidFill>
            <a:srgbClr val="6B90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31336" y="4457700"/>
            <a:ext cx="224028" cy="2240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169664" y="4197096"/>
            <a:ext cx="1783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ประกาศ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6236208" y="4197096"/>
            <a:ext cx="26060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00800" y="4434840"/>
            <a:ext cx="457200" cy="274320"/>
          </a:xfrm>
          <a:prstGeom prst="roundRect">
            <a:avLst>
              <a:gd name="adj" fmla="val 46667"/>
            </a:avLst>
          </a:prstGeom>
          <a:solidFill>
            <a:srgbClr val="6B90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629400" y="4457700"/>
            <a:ext cx="224028" cy="2240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967728" y="4197096"/>
            <a:ext cx="1783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ชำระล่วงหน้า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9034272" y="4197096"/>
            <a:ext cx="26060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198864" y="4434840"/>
            <a:ext cx="457200" cy="274320"/>
          </a:xfrm>
          <a:prstGeom prst="roundRect">
            <a:avLst>
              <a:gd name="adj" fmla="val 46667"/>
            </a:avLst>
          </a:prstGeom>
          <a:solidFill>
            <a:srgbClr val="6B90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427464" y="4457700"/>
            <a:ext cx="224028" cy="2240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765792" y="4197096"/>
            <a:ext cx="1783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ตรวจสลิป SlipOK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640080" y="5129784"/>
            <a:ext cx="26060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04672" y="5367528"/>
            <a:ext cx="457200" cy="274320"/>
          </a:xfrm>
          <a:prstGeom prst="roundRect">
            <a:avLst>
              <a:gd name="adj" fmla="val 46667"/>
            </a:avLst>
          </a:prstGeom>
          <a:solidFill>
            <a:srgbClr val="6B90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33272" y="5390388"/>
            <a:ext cx="224028" cy="2240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1371600" y="5129784"/>
            <a:ext cx="1783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แจ้งเตือน LINE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3438144" y="5129784"/>
            <a:ext cx="26060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602736" y="5367528"/>
            <a:ext cx="457200" cy="274320"/>
          </a:xfrm>
          <a:prstGeom prst="roundRect">
            <a:avLst>
              <a:gd name="adj" fmla="val 46667"/>
            </a:avLst>
          </a:prstGeom>
          <a:solidFill>
            <a:srgbClr val="6B90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831336" y="5390388"/>
            <a:ext cx="224028" cy="2240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169664" y="5129784"/>
            <a:ext cx="1783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เข้าระบบด้วย Google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61" name="Shape 59"/>
          <p:cNvSpPr/>
          <p:nvPr/>
        </p:nvSpPr>
        <p:spPr>
          <a:xfrm>
            <a:off x="6236208" y="5129784"/>
            <a:ext cx="26060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400800" y="5367528"/>
            <a:ext cx="457200" cy="274320"/>
          </a:xfrm>
          <a:prstGeom prst="roundRect">
            <a:avLst>
              <a:gd name="adj" fmla="val 46667"/>
            </a:avLst>
          </a:prstGeom>
          <a:solidFill>
            <a:srgbClr val="6B90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629400" y="5390388"/>
            <a:ext cx="224028" cy="2240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967728" y="5129784"/>
            <a:ext cx="1783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จัดชั้นเรียน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65" name="Shape 63"/>
          <p:cNvSpPr/>
          <p:nvPr/>
        </p:nvSpPr>
        <p:spPr>
          <a:xfrm>
            <a:off x="9034272" y="5129784"/>
            <a:ext cx="26060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198864" y="5367528"/>
            <a:ext cx="457200" cy="274320"/>
          </a:xfrm>
          <a:prstGeom prst="roundRect">
            <a:avLst>
              <a:gd name="adj" fmla="val 46667"/>
            </a:avLst>
          </a:prstGeom>
          <a:solidFill>
            <a:srgbClr val="6B90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427464" y="5390388"/>
            <a:ext cx="224028" cy="2240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765792" y="5129784"/>
            <a:ext cx="1783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ติดตามการขาดเรียน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69" name="Text 67"/>
          <p:cNvSpPr txBox="1"/>
          <p:nvPr/>
        </p:nvSpPr>
        <p:spPr>
          <a:xfrm>
            <a:off x="11475720" y="63550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12</a:t>
            </a:r>
            <a:endParaRPr lang="en-US" sz="1000" dirty="0">
              <a:latin typeface="Kanit" pitchFamily="2" charset="-34"/>
              <a:cs typeface="Kanit" pitchFamily="2" charset="-3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รูปแบบราคา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เก็บรายหัวเด็ก ต่อเดือน</a:t>
            </a:r>
            <a:endParaRPr lang="en-US" sz="3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เป็นหน่วยที่โรงเรียนคิดอยู่แล้ว เพราะเป็นวิธีเดียวกับที่เขาเก็บค่าเทอมจากผู้ปกครอง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78608" cy="3108960"/>
          </a:xfrm>
          <a:prstGeom prst="roundRect">
            <a:avLst>
              <a:gd name="adj" fmla="val 3191"/>
            </a:avLst>
          </a:prstGeom>
          <a:solidFill>
            <a:srgbClr val="E7EEF1"/>
          </a:solidFill>
          <a:ln w="12700">
            <a:solidFill>
              <a:srgbClr val="E7EEF1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514600"/>
            <a:ext cx="530352" cy="530352"/>
          </a:xfrm>
          <a:prstGeom prst="ellipse">
            <a:avLst/>
          </a:prstGeom>
          <a:solidFill>
            <a:srgbClr val="2E6E78"/>
          </a:solidFill>
          <a:ln w="12700">
            <a:solidFill>
              <a:srgbClr val="2E6E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5146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A</a:t>
            </a:r>
            <a:endParaRPr lang="en-US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1554480" y="258775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เริ่มต้น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96112" y="320040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199</a:t>
            </a:r>
            <a:endParaRPr lang="en-US" sz="3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896112" y="38587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บาท / เด็ก / เดือน</a:t>
            </a:r>
            <a:endParaRPr lang="en-US" sz="10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96112" y="4206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วันของโรงเรียน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รับ-ส่ง · สมุดรายงาน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ประกาศ · ออกบิล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438144" y="2286000"/>
            <a:ext cx="2578608" cy="3108960"/>
          </a:xfrm>
          <a:prstGeom prst="roundRect">
            <a:avLst>
              <a:gd name="adj" fmla="val 3191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94176" y="2514600"/>
            <a:ext cx="530352" cy="530352"/>
          </a:xfrm>
          <a:prstGeom prst="ellipse">
            <a:avLst/>
          </a:prstGeom>
          <a:solidFill>
            <a:srgbClr val="6B9080"/>
          </a:solidFill>
          <a:ln w="12700">
            <a:solidFill>
              <a:srgbClr val="6B90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94176" y="25146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B</a:t>
            </a:r>
            <a:endParaRPr lang="en-US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4352544" y="258775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มาตรฐาน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3694176" y="320040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6B9080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299</a:t>
            </a:r>
            <a:endParaRPr lang="en-US" sz="3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3694176" y="38587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บาท / เด็ก / เดือน</a:t>
            </a:r>
            <a:endParaRPr lang="en-US" sz="10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3694176" y="4206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A + เงินและบุคลากร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SlipOK · ชำระล่วงหน้า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ลา · ติดตามขาดเรียน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36208" y="2286000"/>
            <a:ext cx="2578608" cy="3108960"/>
          </a:xfrm>
          <a:prstGeom prst="roundRect">
            <a:avLst>
              <a:gd name="adj" fmla="val 3191"/>
            </a:avLst>
          </a:prstGeom>
          <a:solidFill>
            <a:srgbClr val="FBEEDC"/>
          </a:solidFill>
          <a:ln w="12700">
            <a:solidFill>
              <a:srgbClr val="FBEEDC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2514600"/>
            <a:ext cx="530352" cy="53035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92240" y="25146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C</a:t>
            </a:r>
            <a:endParaRPr lang="en-US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7150608" y="258775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Pro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6492240" y="320040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399</a:t>
            </a:r>
            <a:endParaRPr lang="en-US" sz="3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6492240" y="38587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บาท / เด็ก / เดือน</a:t>
            </a:r>
            <a:endParaRPr lang="en-US" sz="10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6492240" y="4206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B + เงินเดือน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OT · DSPM · ประกัน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Export · LINE push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034272" y="2286000"/>
            <a:ext cx="2578608" cy="3108960"/>
          </a:xfrm>
          <a:prstGeom prst="roundRect">
            <a:avLst>
              <a:gd name="adj" fmla="val 3191"/>
            </a:avLst>
          </a:prstGeom>
          <a:solidFill>
            <a:srgbClr val="E2E8EB"/>
          </a:solidFill>
          <a:ln w="12700">
            <a:solidFill>
              <a:srgbClr val="E2E8EB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290304" y="2514600"/>
            <a:ext cx="530352" cy="530352"/>
          </a:xfrm>
          <a:prstGeom prst="ellipse">
            <a:avLst/>
          </a:prstGeom>
          <a:solidFill>
            <a:srgbClr val="123A4F"/>
          </a:solidFill>
          <a:ln w="12700">
            <a:solidFill>
              <a:srgbClr val="123A4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290304" y="25146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D</a:t>
            </a:r>
            <a:endParaRPr lang="en-US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9948672" y="258775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Enterprise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9290304" y="320040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ใบเสนอราคา</a:t>
            </a:r>
            <a:endParaRPr lang="en-US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9290304" y="38587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0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9290304" y="4206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เกิน 30 คน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1C2A3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หรือต้องปรับระบบเฉพาะ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40080" y="5577840"/>
            <a:ext cx="10881360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960120" y="5577840"/>
            <a:ext cx="10241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กติกาสำคัญ 2 ข้อ :  คิดขั้นต่ำ 20 คนทุกโรงเรียน (Package A เริ่ม ฿3,980/เดือน)  ·  เกิน 30 คน เปลี่ยนเป็นใบเสนอราคา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11475720" y="63550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13</a:t>
            </a:r>
            <a:endParaRPr lang="en-US" sz="1000" dirty="0">
              <a:latin typeface="Kanit" pitchFamily="2" charset="-34"/>
              <a:cs typeface="Kanit" pitchFamily="2" charset="-3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ตัวเลขทางธุรกิจ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รายได้เทียบค่าใช้จ่าย</a:t>
            </a:r>
            <a:endParaRPr lang="en-US" sz="3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สมมติเด็กเฉลี่ยโรงเรียนละ 25 คน · คละแพ็กเกจ A–C</a:t>
            </a:r>
            <a:endParaRPr lang="en-US" sz="1500" dirty="0">
              <a:latin typeface="Kanit" pitchFamily="2" charset="-34"/>
              <a:cs typeface="Kanit" pitchFamily="2" charset="-34"/>
            </a:endParaRPr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622315126"/>
              </p:ext>
            </p:extLst>
          </p:nvPr>
        </p:nvGraphicFramePr>
        <p:xfrm>
          <a:off x="640080" y="2240280"/>
          <a:ext cx="676656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2331720"/>
            <a:ext cx="384048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936992" y="24505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6B9080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~90%</a:t>
            </a:r>
            <a:endParaRPr lang="en-US" sz="21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7936992" y="29077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กำไรขั้นต้นเมื่อมี 5 โรงเรียนขึ้นไป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7680960" y="3538728"/>
            <a:ext cx="384048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936992" y="3657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โรงเรียนแรก</a:t>
            </a:r>
            <a:endParaRPr lang="en-US" sz="21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7936992" y="41148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คือโรงเรียนที่แพงที่สุด หลังจากนั้นเกือบเป็นกำไรล้วน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7680960" y="4745736"/>
            <a:ext cx="384048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936992" y="48646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฿4,245</a:t>
            </a:r>
            <a:endParaRPr lang="en-US" sz="21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4" name="Text 11"/>
          <p:cNvSpPr txBox="1"/>
          <p:nvPr/>
        </p:nvSpPr>
        <p:spPr>
          <a:xfrm>
            <a:off x="7936992" y="53218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ค่าใช้จ่ายระบบทั้งหมด เมื่อมี 20 โรงเรียน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5" name="Text 12"/>
          <p:cNvSpPr txBox="1"/>
          <p:nvPr/>
        </p:nvSpPr>
        <p:spPr>
          <a:xfrm>
            <a:off x="11475720" y="63550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14</a:t>
            </a:r>
            <a:endParaRPr lang="en-US" sz="1000" dirty="0">
              <a:latin typeface="Kanit" pitchFamily="2" charset="-34"/>
              <a:cs typeface="Kanit" pitchFamily="2" charset="-3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B9080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ข้อดี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สิ่งที่โรงเรียนจะได้</a:t>
            </a:r>
            <a:endParaRPr lang="en-US" sz="3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34924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331720"/>
            <a:ext cx="548640" cy="548640"/>
          </a:xfrm>
          <a:prstGeom prst="ellipse">
            <a:avLst/>
          </a:prstGeom>
          <a:solidFill>
            <a:srgbClr val="2E6E78"/>
          </a:solidFill>
          <a:ln w="12700">
            <a:solidFill>
              <a:srgbClr val="2E6E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✓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1554480" y="2194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เร็วขึ้น 15–20 เท่า</a:t>
            </a:r>
            <a:endParaRPr lang="en-US" sz="14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1554480" y="2578608"/>
            <a:ext cx="4251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จาก 6.8 วินาที เหลือต่ำกว่า 0.4 วินาที · ผู้ปกครองหน้าโรงเรียนไม่ต้องยืนรอ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217920" y="2011680"/>
            <a:ext cx="534924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2331720"/>
            <a:ext cx="548640" cy="548640"/>
          </a:xfrm>
          <a:prstGeom prst="ellipse">
            <a:avLst/>
          </a:prstGeom>
          <a:solidFill>
            <a:srgbClr val="9E2A2B"/>
          </a:solidFill>
          <a:ln w="12700">
            <a:solidFill>
              <a:srgbClr val="9E2A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✓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7132320" y="2194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ตัวเลขเงินแม่นยำ 100%</a:t>
            </a:r>
            <a:endParaRPr lang="en-US" sz="14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7132320" y="2578608"/>
            <a:ext cx="4251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ปิดความเสี่ยงการปัดเศษในสลิปเงินเดือนและส่วนลด ก่อนที่มันจะเกิด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429000"/>
            <a:ext cx="534924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3749040"/>
            <a:ext cx="548640" cy="548640"/>
          </a:xfrm>
          <a:prstGeom prst="ellipse">
            <a:avLst/>
          </a:prstGeom>
          <a:solidFill>
            <a:srgbClr val="123A4F"/>
          </a:solidFill>
          <a:ln w="12700">
            <a:solidFill>
              <a:srgbClr val="123A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✓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1554480" y="3611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ข้อมูลปลอดภัยขึ้นมาก</a:t>
            </a:r>
            <a:endParaRPr lang="en-US" sz="14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1554480" y="3995928"/>
            <a:ext cx="4251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สำรองย้อนเวลาได้ · ออกบิลล้มกลางคันแล้วไม่เหลือของค้าง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17920" y="3429000"/>
            <a:ext cx="534924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3749040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✓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7132320" y="3611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มีคู่มือครบทุกบทบาท</a:t>
            </a:r>
            <a:endParaRPr lang="en-US" sz="14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7132320" y="3995928"/>
            <a:ext cx="4251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พนักงานใหม่อ่านเองได้ ไม่ต้องสอนปากต่อปาก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0080" y="4846320"/>
            <a:ext cx="534924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8680" y="5166360"/>
            <a:ext cx="548640" cy="548640"/>
          </a:xfrm>
          <a:prstGeom prst="ellipse">
            <a:avLst/>
          </a:prstGeom>
          <a:solidFill>
            <a:srgbClr val="6B9080"/>
          </a:solidFill>
          <a:ln w="12700">
            <a:solidFill>
              <a:srgbClr val="6B90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" y="5166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✓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1554480" y="5029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ขึ้น Play Store ได้</a:t>
            </a:r>
            <a:endParaRPr lang="en-US" sz="14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1554480" y="5413248"/>
            <a:ext cx="4251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ผู้ปกครองโหลดจากที่เดียวกับแอปทั่วไป น่าเชื่อถือขึ้น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217920" y="4846320"/>
            <a:ext cx="534924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46520" y="5166360"/>
            <a:ext cx="548640" cy="548640"/>
          </a:xfrm>
          <a:prstGeom prst="ellipse">
            <a:avLst/>
          </a:prstGeom>
          <a:solidFill>
            <a:srgbClr val="6B4E9E"/>
          </a:solidFill>
          <a:ln w="12700">
            <a:solidFill>
              <a:srgbClr val="6B4E9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46520" y="5166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✓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7132320" y="5029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กลายเป็นสินทรัพย์</a:t>
            </a:r>
            <a:endParaRPr lang="en-US" sz="14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7132320" y="5413248"/>
            <a:ext cx="4251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จากค่าใช้จ่ายของโรงเรียน เป็นสิ่งที่สร้างรายได้จากโรงเรียนอื่น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11475720" y="63550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15</a:t>
            </a:r>
            <a:endParaRPr lang="en-US" sz="1000" dirty="0">
              <a:latin typeface="Kanit" pitchFamily="2" charset="-34"/>
              <a:cs typeface="Kanit" pitchFamily="2" charset="-3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9E2A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ข้อเสีย และสิ่งที่ต้องยอมรับ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เรื่องที่ต้องบอกให้ครบ</a:t>
            </a:r>
            <a:endParaRPr lang="en-US" sz="3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7F3EC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231136"/>
            <a:ext cx="502920" cy="502920"/>
          </a:xfrm>
          <a:prstGeom prst="ellipse">
            <a:avLst/>
          </a:prstGeom>
          <a:solidFill>
            <a:srgbClr val="9E2A2B"/>
          </a:solidFill>
          <a:ln w="12700">
            <a:solidFill>
              <a:srgbClr val="9E2A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2311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!</a:t>
            </a:r>
            <a:endParaRPr lang="en-US" sz="16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1517904" y="2121408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9E2A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มีค่าใช้จ่ายรายเดือน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846320" y="2121408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จาก ฿0 เป็น ~฿1,825/เดือน · ระบบเดิมฟรีเพราะใช้ของ Google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275320" y="2121408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3F6B5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→ ยอมรับ — แลกกับความเร็วและความปลอดภัยของข้อมูลเงิน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3300984"/>
            <a:ext cx="502920" cy="502920"/>
          </a:xfrm>
          <a:prstGeom prst="ellipse">
            <a:avLst/>
          </a:prstGeom>
          <a:solidFill>
            <a:srgbClr val="9E2A2B"/>
          </a:solidFill>
          <a:ln w="12700">
            <a:solidFill>
              <a:srgbClr val="9E2A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!</a:t>
            </a:r>
            <a:endParaRPr lang="en-US" sz="16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517904" y="3191256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 err="1">
                <a:solidFill>
                  <a:srgbClr val="9E2A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ใช้เวลา</a:t>
            </a:r>
            <a:r>
              <a:rPr lang="en-US" sz="1350" b="1" dirty="0">
                <a:solidFill>
                  <a:srgbClr val="9E2A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 </a:t>
            </a:r>
            <a:r>
              <a:rPr lang="th-TH" sz="1350" b="1" dirty="0">
                <a:solidFill>
                  <a:srgbClr val="9E2A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3</a:t>
            </a:r>
            <a:r>
              <a:rPr lang="en-US" sz="1350" b="1" dirty="0">
                <a:solidFill>
                  <a:srgbClr val="9E2A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–</a:t>
            </a:r>
            <a:r>
              <a:rPr lang="th-TH" sz="1350" b="1" dirty="0">
                <a:solidFill>
                  <a:srgbClr val="9E2A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6</a:t>
            </a:r>
            <a:r>
              <a:rPr lang="en-US" sz="1350" b="1" dirty="0">
                <a:solidFill>
                  <a:srgbClr val="9E2A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 เดือน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4846320" y="3191256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ไม่ใช่งานที่เสร็จใน 1–2 เดือน เพราะต้องย้ายเรื่องเงินอย่างระมัดระวัง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8275320" y="3191256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3F6B5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→ แบ่ง 2 สาย </a:t>
            </a:r>
            <a:r>
              <a:rPr lang="en-US" sz="1150" dirty="0" err="1">
                <a:solidFill>
                  <a:srgbClr val="3F6B5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โรงเรียนได้ความเร็วตั้งแต่เดือนที่</a:t>
            </a:r>
            <a:r>
              <a:rPr lang="en-US" sz="1150" dirty="0">
                <a:solidFill>
                  <a:srgbClr val="3F6B5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 </a:t>
            </a:r>
            <a:r>
              <a:rPr lang="th-TH" sz="1150" dirty="0">
                <a:solidFill>
                  <a:srgbClr val="3F6B5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3</a:t>
            </a:r>
            <a:r>
              <a:rPr lang="en-US" sz="1150" dirty="0">
                <a:solidFill>
                  <a:srgbClr val="3F6B5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–</a:t>
            </a:r>
            <a:r>
              <a:rPr lang="th-TH" sz="1150" dirty="0">
                <a:solidFill>
                  <a:srgbClr val="3F6B5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4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4151376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7F3EC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4370832"/>
            <a:ext cx="502920" cy="502920"/>
          </a:xfrm>
          <a:prstGeom prst="ellipse">
            <a:avLst/>
          </a:prstGeom>
          <a:solidFill>
            <a:srgbClr val="9E2A2B"/>
          </a:solidFill>
          <a:ln w="12700">
            <a:solidFill>
              <a:srgbClr val="9E2A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4370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!</a:t>
            </a:r>
            <a:endParaRPr lang="en-US" sz="16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517904" y="4261104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9E2A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เปิด Google Sheets ดูเองไม่ได้เหมือนเดิม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4846320" y="4261104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ทุกวันนี้เปิดชีตดูข้อมูลดิบได้ · ฐานข้อมูลใหม่เปิดแบบนั้นไม่ได้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8275320" y="4261104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3F6B5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→ จะทำหน้าจอส่งออก Excel ทดแทนให้ครบ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0080" y="5221224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5440680"/>
            <a:ext cx="502920" cy="502920"/>
          </a:xfrm>
          <a:prstGeom prst="ellipse">
            <a:avLst/>
          </a:prstGeom>
          <a:solidFill>
            <a:srgbClr val="9E2A2B"/>
          </a:solidFill>
          <a:ln w="12700">
            <a:solidFill>
              <a:srgbClr val="9E2A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8680" y="5440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!</a:t>
            </a:r>
            <a:endParaRPr lang="en-US" sz="16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1517904" y="5330952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9E2A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พึ่งพาผู้ให้บริการภายนอก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4846320" y="5330952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ถ้า Supabase หรือ Vercel ล่ม ระบบเราล่มด้วย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8275320" y="5330952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3F6B5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→ สำรองข้อมูลออกมานอกระบบทุกวัน และย้ายผู้ให้บริการได้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คอลัมน์ขวาคือวิธีรับมือ — ไม่มีข้อไหนที่ยังไม่มีคำตอบ</a:t>
            </a:r>
            <a:endParaRPr lang="en-US" sz="13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11475720" y="63550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16</a:t>
            </a:r>
            <a:endParaRPr lang="en-US" sz="1000" dirty="0">
              <a:latin typeface="Kanit" pitchFamily="2" charset="-34"/>
              <a:cs typeface="Kanit" pitchFamily="2" charset="-3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แผนเวลา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ลำดับงาน และจุดที่โรงเรียนจะรู้สึกได้</a:t>
            </a:r>
            <a:endParaRPr lang="en-US" sz="30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048256" cy="2286000"/>
          </a:xfrm>
          <a:prstGeom prst="roundRect">
            <a:avLst>
              <a:gd name="adj" fmla="val 401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89888" y="2724912"/>
            <a:ext cx="548640" cy="548640"/>
          </a:xfrm>
          <a:prstGeom prst="ellipse">
            <a:avLst/>
          </a:prstGeom>
          <a:solidFill>
            <a:srgbClr val="2E6E78"/>
          </a:solidFill>
          <a:ln w="12700">
            <a:solidFill>
              <a:srgbClr val="2E6E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89888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</a:t>
            </a:r>
            <a:endParaRPr lang="en-US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49808" y="3401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เดือน 1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749808" y="3767328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เขียนคู่มือทุกบทบาท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  <a:p>
            <a:pPr marL="0" indent="0" algn="ctr">
              <a:lnSpc>
                <a:spcPts val="1600"/>
              </a:lnSpc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ออกแบบฐานข้อมูล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2688336" y="32918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rgbClr val="DCE4E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›</a:t>
            </a:r>
            <a:endParaRPr lang="en-US" sz="2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871216" y="2514600"/>
            <a:ext cx="2048256" cy="2286000"/>
          </a:xfrm>
          <a:prstGeom prst="roundRect">
            <a:avLst>
              <a:gd name="adj" fmla="val 401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21024" y="2724912"/>
            <a:ext cx="548640" cy="548640"/>
          </a:xfrm>
          <a:prstGeom prst="ellipse">
            <a:avLst/>
          </a:prstGeom>
          <a:solidFill>
            <a:srgbClr val="2E6E78"/>
          </a:solidFill>
          <a:ln w="12700">
            <a:solidFill>
              <a:srgbClr val="2E6E7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1024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2</a:t>
            </a:r>
            <a:endParaRPr lang="en-US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2980944" y="3401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 err="1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เดือน</a:t>
            </a:r>
            <a:r>
              <a:rPr lang="en-US" sz="1350" b="1" dirty="0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 </a:t>
            </a:r>
            <a:r>
              <a:rPr lang="th-TH" sz="1350" b="1" dirty="0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</a:t>
            </a:r>
            <a:r>
              <a:rPr lang="en-US" sz="1350" b="1" dirty="0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–</a:t>
            </a:r>
            <a:r>
              <a:rPr lang="th-TH" sz="1350" b="1" dirty="0">
                <a:solidFill>
                  <a:srgbClr val="2E6E7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2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2980944" y="3767328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สร้างฐานข้อมูลใหม่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  <a:p>
            <a:pPr marL="0" indent="0" algn="ctr">
              <a:lnSpc>
                <a:spcPts val="1600"/>
              </a:lnSpc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เชื่อมสองทางกับของเดิม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4919472" y="32918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rgbClr val="DCE4E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›</a:t>
            </a:r>
            <a:endParaRPr lang="en-US" sz="2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102352" y="2514600"/>
            <a:ext cx="2048256" cy="2286000"/>
          </a:xfrm>
          <a:prstGeom prst="roundRect">
            <a:avLst>
              <a:gd name="adj" fmla="val 401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52160" y="2724912"/>
            <a:ext cx="548640" cy="548640"/>
          </a:xfrm>
          <a:prstGeom prst="ellipse">
            <a:avLst/>
          </a:prstGeom>
          <a:solidFill>
            <a:srgbClr val="6B9080"/>
          </a:solidFill>
          <a:ln w="12700">
            <a:solidFill>
              <a:srgbClr val="6B90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52160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3</a:t>
            </a:r>
            <a:endParaRPr lang="en-US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5212080" y="3401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 err="1">
                <a:solidFill>
                  <a:srgbClr val="6B9080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เดือน</a:t>
            </a:r>
            <a:r>
              <a:rPr lang="th-TH" sz="1350" b="1" dirty="0">
                <a:solidFill>
                  <a:srgbClr val="6B9080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 3-</a:t>
            </a:r>
            <a:r>
              <a:rPr lang="en-US" sz="1350" b="1" dirty="0">
                <a:solidFill>
                  <a:srgbClr val="6B9080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4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5212080" y="3767328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ย้ายการอ่าน–เขียน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  <a:p>
            <a:pPr marL="0" indent="0" algn="ctr">
              <a:lnSpc>
                <a:spcPts val="1600"/>
              </a:lnSpc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ระบบเร็วขึ้นจริง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7150608" y="32918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rgbClr val="DCE4E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›</a:t>
            </a:r>
            <a:endParaRPr lang="en-US" sz="2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33488" y="2514600"/>
            <a:ext cx="2048256" cy="2286000"/>
          </a:xfrm>
          <a:prstGeom prst="roundRect">
            <a:avLst>
              <a:gd name="adj" fmla="val 401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83296" y="2724912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83296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4</a:t>
            </a:r>
            <a:endParaRPr lang="en-US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7443216" y="3401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 err="1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เดือน</a:t>
            </a:r>
            <a:r>
              <a:rPr lang="en-US" sz="1350" b="1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 </a:t>
            </a:r>
            <a:r>
              <a:rPr lang="th-TH" sz="1350" b="1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4</a:t>
            </a:r>
            <a:r>
              <a:rPr lang="en-US" sz="1350" b="1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–</a:t>
            </a:r>
            <a:r>
              <a:rPr lang="th-TH" sz="1350" b="1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5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7443216" y="3767328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หน้าตาใหม่ทั้งหมด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  <a:p>
            <a:pPr marL="0" indent="0" algn="ctr">
              <a:lnSpc>
                <a:spcPts val="1600"/>
              </a:lnSpc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รองรับหลายโรงเรียน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9381744" y="32918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rgbClr val="DCE4E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›</a:t>
            </a:r>
            <a:endParaRPr lang="en-US" sz="2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564624" y="2514600"/>
            <a:ext cx="2048256" cy="2286000"/>
          </a:xfrm>
          <a:prstGeom prst="roundRect">
            <a:avLst>
              <a:gd name="adj" fmla="val 401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314432" y="2724912"/>
            <a:ext cx="548640" cy="548640"/>
          </a:xfrm>
          <a:prstGeom prst="ellipse">
            <a:avLst/>
          </a:prstGeom>
          <a:solidFill>
            <a:srgbClr val="123A4F"/>
          </a:solidFill>
          <a:ln w="12700">
            <a:solidFill>
              <a:srgbClr val="123A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314432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5</a:t>
            </a:r>
            <a:endParaRPr lang="en-US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9674352" y="3401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 err="1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เดือน</a:t>
            </a:r>
            <a:r>
              <a:rPr lang="en-US" sz="135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 </a:t>
            </a:r>
            <a:r>
              <a:rPr lang="th-TH" sz="135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5</a:t>
            </a:r>
            <a:r>
              <a:rPr lang="en-US" sz="135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–</a:t>
            </a:r>
            <a:r>
              <a:rPr lang="th-TH" sz="1350" b="1" dirty="0">
                <a:solidFill>
                  <a:srgbClr val="123A4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6</a:t>
            </a:r>
            <a:endParaRPr lang="en-US" sz="13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9674352" y="3767328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หน้าจอควบคุม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  <a:p>
            <a:pPr marL="0" indent="0" algn="ctr">
              <a:lnSpc>
                <a:spcPts val="1600"/>
              </a:lnSpc>
              <a:buNone/>
            </a:pPr>
            <a:r>
              <a:rPr lang="en-US" sz="115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ขึ้น Play Store · พร้อมขาย</a:t>
            </a:r>
            <a:endParaRPr lang="en-US" sz="11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40080" y="5120640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E4EDE7"/>
          </a:solidFill>
          <a:ln w="12700">
            <a:solidFill>
              <a:srgbClr val="CFE0D5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960120" y="5257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3F6B5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เดือนที่</a:t>
            </a:r>
            <a:r>
              <a:rPr lang="en-US" sz="1400" b="1" dirty="0">
                <a:solidFill>
                  <a:srgbClr val="3F6B5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 </a:t>
            </a:r>
            <a:r>
              <a:rPr lang="th-TH" sz="1400" b="1" dirty="0">
                <a:solidFill>
                  <a:srgbClr val="3F6B5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3</a:t>
            </a:r>
            <a:r>
              <a:rPr lang="en-US" sz="1400" b="1" dirty="0">
                <a:solidFill>
                  <a:srgbClr val="3F6B5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–</a:t>
            </a:r>
            <a:r>
              <a:rPr lang="th-TH" sz="1400" b="1" dirty="0">
                <a:solidFill>
                  <a:srgbClr val="3F6B5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4</a:t>
            </a:r>
            <a:r>
              <a:rPr lang="en-US" sz="1400" b="1" dirty="0">
                <a:solidFill>
                  <a:srgbClr val="3F6B53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 · โรงเรียนได้ความเร็ว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960120" y="55961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ก่อนหน้านั้นใช้ระบบเดิมตามปกติ ไม่มีอะไรเปลี่ยน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217920" y="5120640"/>
            <a:ext cx="5303520" cy="1005840"/>
          </a:xfrm>
          <a:prstGeom prst="roundRect">
            <a:avLst>
              <a:gd name="adj" fmla="val 8182"/>
            </a:avLst>
          </a:prstGeom>
          <a:solidFill>
            <a:srgbClr val="FBEEDC"/>
          </a:solidFill>
          <a:ln w="12700">
            <a:solidFill>
              <a:srgbClr val="F0DCC2"/>
            </a:solidFill>
            <a:prstDash val="solid"/>
          </a:ln>
          <a:effectLst>
            <a:outerShdw blurRad="114300" dist="19050" dir="5400000" algn="bl" rotWithShape="0">
              <a:srgbClr val="96A8B2">
                <a:alpha val="2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537960" y="5257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8A5A1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เดือนที่</a:t>
            </a:r>
            <a:r>
              <a:rPr lang="en-US" sz="1400" b="1" dirty="0">
                <a:solidFill>
                  <a:srgbClr val="8A5A1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 </a:t>
            </a:r>
            <a:r>
              <a:rPr lang="th-TH" sz="1400" b="1" dirty="0">
                <a:solidFill>
                  <a:srgbClr val="8A5A1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6 เป็นต้นไป</a:t>
            </a:r>
            <a:r>
              <a:rPr lang="en-US" sz="1400" b="1" dirty="0">
                <a:solidFill>
                  <a:srgbClr val="8A5A18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 · เริ่มเสนอขายโรงเรียนอื่นได้</a:t>
            </a:r>
            <a:endParaRPr lang="en-US" sz="14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8" name="Text 36"/>
          <p:cNvSpPr txBox="1"/>
          <p:nvPr/>
        </p:nvSpPr>
        <p:spPr>
          <a:xfrm>
            <a:off x="6537960" y="55961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ระบบหลายโรงเรียนต้องเสร็จสมบูรณ์ก่อนไปขาย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9" name="Text 37"/>
          <p:cNvSpPr txBox="1"/>
          <p:nvPr/>
        </p:nvSpPr>
        <p:spPr>
          <a:xfrm>
            <a:off x="11475720" y="63550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17</a:t>
            </a:r>
            <a:endParaRPr lang="en-US" sz="1000" dirty="0">
              <a:latin typeface="Kanit" pitchFamily="2" charset="-34"/>
              <a:cs typeface="Kanit" pitchFamily="2" charset="-3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3A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ขั้นตอนถัดไป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สิ่งที่ขออนุมัติ</a:t>
            </a:r>
            <a:endParaRPr lang="en-US" sz="3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B4A5F"/>
          </a:solidFill>
          <a:ln w="12700">
            <a:solidFill>
              <a:srgbClr val="2E6E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2020824"/>
            <a:ext cx="530352" cy="53035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02082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1572768" y="19202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อนุมัติค่าใช้จ่ายระบบ ~฿1,825 / เดือน</a:t>
            </a:r>
            <a:endParaRPr lang="en-US" sz="14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812280" y="19202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A9C4CE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เริ่มจ่ายจริงเมื่อเริ่มสร้างฐานข้อมูล </a:t>
            </a:r>
            <a:r>
              <a:rPr lang="en-US" sz="1200" dirty="0" err="1">
                <a:solidFill>
                  <a:srgbClr val="A9C4CE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ประมาณเดือนที่</a:t>
            </a:r>
            <a:r>
              <a:rPr lang="en-US" sz="1200" dirty="0">
                <a:solidFill>
                  <a:srgbClr val="A9C4CE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 </a:t>
            </a:r>
            <a:r>
              <a:rPr lang="th-TH" sz="1200" dirty="0">
                <a:solidFill>
                  <a:srgbClr val="A9C4CE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40080" y="288036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B4A5F"/>
          </a:solidFill>
          <a:ln w="12700">
            <a:solidFill>
              <a:srgbClr val="2E6E7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3072384"/>
            <a:ext cx="530352" cy="53035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7238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2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1572768" y="29718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อนุมัติทิศทางขายต่อให้โรงเรียนอื่น</a:t>
            </a:r>
            <a:endParaRPr lang="en-US" sz="14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812280" y="29718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A9C4CE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เพื่อให้ออกแบบระบบหลายโรงเรียนตั้งแต่ต้น แทนการมาแก้ทีหลัง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93192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B4A5F"/>
          </a:solidFill>
          <a:ln w="12700">
            <a:solidFill>
              <a:srgbClr val="2E6E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4123944"/>
            <a:ext cx="530352" cy="53035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123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3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1572768" y="40233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ยืนยันรูปแบบราคา 199 / 299 / 399 บาท ต่อเด็ก</a:t>
            </a:r>
            <a:endParaRPr lang="en-US" sz="14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812280" y="40233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A9C4CE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รวมถึงกติกาขั้นต่ำ 20 คน และเกิน 30 คนเป็นใบเสนอราคา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40080" y="498348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B4A5F"/>
          </a:solidFill>
          <a:ln w="12700">
            <a:solidFill>
              <a:srgbClr val="2E6E7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5175504"/>
            <a:ext cx="530352" cy="53035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96112" y="51755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4</a:t>
            </a:r>
            <a:endParaRPr lang="en-US" sz="17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1572768" y="50749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มอบหมายผู้ตรวจรับคู่มือแต่ละบทบาท</a:t>
            </a:r>
            <a:endParaRPr lang="en-US" sz="14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6812280" y="5074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A9C4CE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คู่มือต้องตรงกับการใช้งานจริง จึงต้องมีคนของโรงเรียนอ่านและยืนยัน</a:t>
            </a:r>
            <a:endParaRPr lang="en-US" sz="12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0080" y="6080760"/>
            <a:ext cx="10881360" cy="566928"/>
          </a:xfrm>
          <a:prstGeom prst="roundRect">
            <a:avLst>
              <a:gd name="adj" fmla="val 14516"/>
            </a:avLst>
          </a:prstGeom>
          <a:solidFill>
            <a:srgbClr val="0B2835"/>
          </a:solidFill>
          <a:ln w="12700">
            <a:solidFill>
              <a:srgbClr val="0B283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60807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D9822B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งานที่เริ่มได้ทันทีโดยไม่มีค่าใช้จ่าย : เขียนคู่มือทุกบทบาท และออกแบบฐานข้อมูลบนกระดาษ</a:t>
            </a:r>
            <a:endParaRPr lang="en-US" sz="125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11475720" y="63550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2757F"/>
                </a:solidFill>
                <a:latin typeface="Kanit" pitchFamily="2" charset="-34"/>
                <a:ea typeface="Tahoma" pitchFamily="34" charset="-122"/>
                <a:cs typeface="Kanit" pitchFamily="2" charset="-34"/>
              </a:rPr>
              <a:t>18</a:t>
            </a:r>
            <a:endParaRPr lang="en-US" sz="1000" dirty="0">
              <a:latin typeface="Kanit" pitchFamily="2" charset="-34"/>
              <a:cs typeface="Kanit" pitchFamily="2" charset="-3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1940</Words>
  <Application>Microsoft Office PowerPoint</Application>
  <PresentationFormat>Widescreen</PresentationFormat>
  <Paragraphs>386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Kanit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แผนพัฒนาระบบ Atom Nursery</dc:title>
  <dc:subject>PptxGenJS Presentation</dc:subject>
  <dc:creator>Atom Nursery</dc:creator>
  <cp:lastModifiedBy>Pattara Thienchai</cp:lastModifiedBy>
  <cp:revision>3</cp:revision>
  <dcterms:created xsi:type="dcterms:W3CDTF">2026-09-15T05:02:29Z</dcterms:created>
  <dcterms:modified xsi:type="dcterms:W3CDTF">2026-09-15T07:42:45Z</dcterms:modified>
</cp:coreProperties>
</file>