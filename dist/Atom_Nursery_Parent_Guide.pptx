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oval">
            <a:avLst/>
          </a:prstGeom>
          <a:solidFill>
            <a:srgbClr val="12386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4206240"/>
            <a:ext cx="4754880" cy="4754880"/>
          </a:xfrm>
          <a:prstGeom prst="oval">
            <a:avLst/>
          </a:prstGeom>
          <a:solidFill>
            <a:srgbClr val="123A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FB3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7040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คู่มือการใช้งาน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สำหรับผู้ปกครอง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0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เข้าใจทุกเมนู ทุกฟังก์ชัน — ลงทะเบียน · รับ-ส่ง · ชำระเงิน · บันทึกประจำวัน · พัฒนาการ · แชท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แอปเปิดผ่าน LINE OA ของโรงเรียน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31936" y="996696"/>
            <a:ext cx="2578608" cy="5096866"/>
          </a:xfrm>
          <a:prstGeom prst="roundRect">
            <a:avLst>
              <a:gd name="adj" fmla="val 12057"/>
            </a:avLst>
          </a:prstGeom>
          <a:solidFill>
            <a:srgbClr val="0A1B33"/>
          </a:solidFill>
          <a:ln/>
          <a:effectLst>
            <a:outerShdw sx="100000" sy="100000" kx="0" ky="0" algn="bl" rotWithShape="0" blurRad="127000" dist="50800" dir="5400000">
              <a:srgbClr val="0A1B33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0" y="1051560"/>
            <a:ext cx="2468880" cy="49871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0" y="1051560"/>
            <a:ext cx="2468880" cy="694944"/>
          </a:xfrm>
          <a:prstGeom prst="roundRect">
            <a:avLst>
              <a:gd name="adj" fmla="val 39474"/>
            </a:avLst>
          </a:prstGeom>
          <a:solidFill>
            <a:srgbClr val="1565C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380744"/>
            <a:ext cx="246888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8887968" y="110642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38360" y="110642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  🔔  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0" y="572780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(Home)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851392" y="180136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สวัสดีค่ะ คุณกานต์ 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51392" y="2167128"/>
            <a:ext cx="2139696" cy="832104"/>
          </a:xfrm>
          <a:prstGeom prst="roundRect">
            <a:avLst>
              <a:gd name="adj" fmla="val 10989"/>
            </a:avLst>
          </a:prstGeom>
          <a:solidFill>
            <a:srgbClr val="E9F1FC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2276856"/>
            <a:ext cx="1847088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บีม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97696" y="2609698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🏫 Nursery 1 · 1 ปี 2 เดือน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997696" y="2827325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07:00–17:00 น. · แพ้: นมวัว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851392" y="3145536"/>
            <a:ext cx="1024128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8851392" y="3145536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🟢 ส่งเข้าเรียน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966960" y="3145536"/>
            <a:ext cx="1024128" cy="402336"/>
          </a:xfrm>
          <a:prstGeom prst="roundRect">
            <a:avLst>
              <a:gd name="adj" fmla="val 22727"/>
            </a:avLst>
          </a:prstGeom>
          <a:solidFill>
            <a:srgbClr val="C2185B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3145536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🔴 รับกลับ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51392" y="3694176"/>
            <a:ext cx="2139696" cy="601675"/>
          </a:xfrm>
          <a:prstGeom prst="roundRect">
            <a:avLst>
              <a:gd name="adj" fmla="val 15198"/>
            </a:avLst>
          </a:prstGeom>
          <a:solidFill>
            <a:srgbClr val="F4F8FE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97696" y="3803904"/>
            <a:ext cx="1847088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 บันทึกของ บีม วันนี้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997696" y="4047134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⏳ รอคุณครูส่งข้อมูล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ภาพรวมคู่มือ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ในคู่มือนี้มีอะไรบ้าง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📝</a:t>
            </a:r>
            <a:endParaRPr lang="en-US" sz="1456" dirty="0"/>
          </a:p>
        </p:txBody>
      </p:sp>
      <p:sp>
        <p:nvSpPr>
          <p:cNvPr id="6" name="Text 4"/>
          <p:cNvSpPr/>
          <p:nvPr/>
        </p:nvSpPr>
        <p:spPr>
          <a:xfrm>
            <a:off x="1298448" y="1380744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 &amp; จัดการบุตรหลาน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691640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ลงทะเบียนครั้งแรก · เพิ่มเด็ก 2 คน · ลบ/ยกเลิกการผูก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E4C92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4173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🧭</a:t>
            </a:r>
            <a:endParaRPr lang="en-US" sz="1456" dirty="0"/>
          </a:p>
        </p:txBody>
      </p:sp>
      <p:sp>
        <p:nvSpPr>
          <p:cNvPr id="10" name="Text 8"/>
          <p:cNvSpPr/>
          <p:nvPr/>
        </p:nvSpPr>
        <p:spPr>
          <a:xfrm>
            <a:off x="6967728" y="1380744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เมนูด้านบน &amp; เมนูล่าง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67728" y="1691640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ความหมายของทุกไอคอนที่เห็นบนหน้าจอ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58775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87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🏠</a:t>
            </a:r>
            <a:endParaRPr lang="en-US" sz="1456" dirty="0"/>
          </a:p>
        </p:txBody>
      </p:sp>
      <p:sp>
        <p:nvSpPr>
          <p:cNvPr id="14" name="Text 12"/>
          <p:cNvSpPr/>
          <p:nvPr/>
        </p:nvSpPr>
        <p:spPr>
          <a:xfrm>
            <a:off x="1298448" y="2551176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&amp; ประกาศ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2862072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การ์ดเด็ก · ป๊อปอัปประกาศ · แจ้งลา · ประกัน · ปฏิทิน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58775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587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📍</a:t>
            </a:r>
            <a:endParaRPr lang="en-US" sz="1456" dirty="0"/>
          </a:p>
        </p:txBody>
      </p:sp>
      <p:sp>
        <p:nvSpPr>
          <p:cNvPr id="18" name="Text 16"/>
          <p:cNvSpPr/>
          <p:nvPr/>
        </p:nvSpPr>
        <p:spPr>
          <a:xfrm>
            <a:off x="6967728" y="2551176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รับ-ส่งเด็ก (GPS)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67728" y="2862072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เช็คอิน-เอาท์ในรัศมีโรงเรียน แจ้งครูอัตโนมัติ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5818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581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💳</a:t>
            </a:r>
            <a:endParaRPr lang="en-US" sz="1456" dirty="0"/>
          </a:p>
        </p:txBody>
      </p:sp>
      <p:sp>
        <p:nvSpPr>
          <p:cNvPr id="22" name="Text 20"/>
          <p:cNvSpPr/>
          <p:nvPr/>
        </p:nvSpPr>
        <p:spPr>
          <a:xfrm>
            <a:off x="1298448" y="3721608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ชำระเงิน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4032504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บิลรายเดือน · QR/แนบสลิป/เงินสด · OT นักเรียน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75818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7581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</a:t>
            </a:r>
            <a:endParaRPr lang="en-US" sz="1456" dirty="0"/>
          </a:p>
        </p:txBody>
      </p:sp>
      <p:sp>
        <p:nvSpPr>
          <p:cNvPr id="26" name="Text 24"/>
          <p:cNvSpPr/>
          <p:nvPr/>
        </p:nvSpPr>
        <p:spPr>
          <a:xfrm>
            <a:off x="6967728" y="3721608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บันทึกประจำวัน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67728" y="4032504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กิน-นอน-ขับถ่าย-อารมณ์ ที่ครูบันทึกให้ทุกวัน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928616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C2185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9286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📈</a:t>
            </a:r>
            <a:endParaRPr lang="en-US" sz="1456" dirty="0"/>
          </a:p>
        </p:txBody>
      </p:sp>
      <p:sp>
        <p:nvSpPr>
          <p:cNvPr id="30" name="Text 28"/>
          <p:cNvSpPr/>
          <p:nvPr/>
        </p:nvSpPr>
        <p:spPr>
          <a:xfrm>
            <a:off x="1298448" y="4892040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พัฒนาการ (DSPM)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98448" y="5202936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ประเมินพัฒนาการ 5 ด้าน · กราฟโต · วัคซีน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4928616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9286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💬</a:t>
            </a:r>
            <a:endParaRPr lang="en-US" sz="1456" dirty="0"/>
          </a:p>
        </p:txBody>
      </p:sp>
      <p:sp>
        <p:nvSpPr>
          <p:cNvPr id="34" name="Text 32"/>
          <p:cNvSpPr/>
          <p:nvPr/>
        </p:nvSpPr>
        <p:spPr>
          <a:xfrm>
            <a:off x="6967728" y="4892040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แชทกับโรงเรียน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67728" y="5202936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คุยผ่าน LINE OA ที่เดียว ไม่ตกหล่น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เริ่มต้นใช้งาน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ลงทะเบียน &amp; เพิ่มบุตรหลาน 2 คน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316736"/>
            <a:ext cx="2441448" cy="4819802"/>
          </a:xfrm>
          <a:prstGeom prst="roundRect">
            <a:avLst>
              <a:gd name="adj" fmla="val 12734"/>
            </a:avLst>
          </a:prstGeom>
          <a:solidFill>
            <a:srgbClr val="0A1B33"/>
          </a:solidFill>
          <a:ln/>
          <a:effectLst>
            <a:outerShdw sx="100000" sy="100000" kx="0" ky="0" algn="bl" rotWithShape="0" blurRad="127000" dist="50800" dir="5400000">
              <a:srgbClr val="0A1B33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2331720" cy="4710074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71600"/>
            <a:ext cx="2331720" cy="694944"/>
          </a:xfrm>
          <a:prstGeom prst="roundRect">
            <a:avLst>
              <a:gd name="adj" fmla="val 39474"/>
            </a:avLst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00784"/>
            <a:ext cx="233172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426464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42646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  🔔 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577077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หน้าเพิ่มบุตรหลาน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" y="2121408"/>
            <a:ext cx="2002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👶 เพิ่มบุตรหลาน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0392" y="2487168"/>
            <a:ext cx="2002536" cy="448056"/>
          </a:xfrm>
          <a:prstGeom prst="roundRect">
            <a:avLst>
              <a:gd name="adj" fmla="val 20408"/>
            </a:avLst>
          </a:prstGeom>
          <a:solidFill>
            <a:srgbClr val="E9F1FC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96896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📝 ลงทะเบียนเด็กใหม่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0392" y="3081528"/>
            <a:ext cx="2002536" cy="592074"/>
          </a:xfrm>
          <a:prstGeom prst="roundRect">
            <a:avLst>
              <a:gd name="adj" fmla="val 15444"/>
            </a:avLst>
          </a:prstGeom>
          <a:solidFill>
            <a:srgbClr val="F4F8FE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191256"/>
            <a:ext cx="170992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เคยลงทะเบียนแล้ว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96696" y="3408883"/>
            <a:ext cx="170992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เลขบัตร ปชช. เด็ก…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0392" y="3819906"/>
            <a:ext cx="2002536" cy="402336"/>
          </a:xfrm>
          <a:prstGeom prst="roundRect">
            <a:avLst>
              <a:gd name="adj" fmla="val 22727"/>
            </a:avLst>
          </a:prstGeom>
          <a:solidFill>
            <a:srgbClr val="0E4C92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" y="3819906"/>
            <a:ext cx="20025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🔗 เชื่อมข้อมูล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1371600"/>
            <a:ext cx="4160520" cy="2148840"/>
          </a:xfrm>
          <a:prstGeom prst="roundRect">
            <a:avLst>
              <a:gd name="adj" fmla="val 3404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1517904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 A — เด็กใหม่ (ยังไม่มีในระบบ)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84448" y="1920240"/>
            <a:ext cx="375818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→ กด "+ เพิ่มบุตรหลาน"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📝 ลงทะเบียนเด็กใหม่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กรอก: ชื่อ-สกุล · ชื่อเล่น · เลขบัตร · วันเกิด · เพศ · ประวัติแพ้ · รูป · คนรับ-ส่ง (สูงสุด 4)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กดบันทึก → ระบบจัดชั้นเรียนให้อัตโนมัติตามอายุ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37033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E6F4E7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3849624"/>
            <a:ext cx="3758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 B — เด็กมีในระบบแล้ว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84448" y="4251960"/>
            <a:ext cx="3758184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ใช้เมื่อพ่อ/แม่อีกคนลงทะเบียนไว้แล้ว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"เคยลงทะเบียนแล้ว" → กรอกเลขบัตร ปชช. ของเด็ก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🔗 เชื่อมข้อมูล → ผูกเด็กเข้าบัญชีทันที (ไม่สร้างข้อมูลซ้ำ)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1371600"/>
            <a:ext cx="3794760" cy="4114800"/>
          </a:xfrm>
          <a:prstGeom prst="roundRect">
            <a:avLst>
              <a:gd name="adj" fmla="val 1928"/>
            </a:avLst>
          </a:prstGeom>
          <a:solidFill>
            <a:srgbClr val="FFF3E0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1517904"/>
            <a:ext cx="3392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เพิ่มเด็กคนที่ 2 (และคนถัดไป)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73568" y="1920240"/>
            <a:ext cx="3392424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ทำซ้ำขั้นตอนเดิมอีกครั้ง: กด "+ เพิ่มบุตรหลาน" แล้วเลือกแบบ A หรือ B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เด็กแต่ละคนจะขึ้นเป็น "การ์ดแยกกัน" บนหน้าหลัก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ทุกเมนูทำงานแยกรายคน: ส่ง-รับ / บันทึก / พัฒนาการ / ชำระเงิน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สลับดูเด็กแต่ละคนได้จากการ์ดของแต่ละคนโดยตรง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ชั้นเรียนเริ่มต้นตั้งตามอายุ: 0–1 ปี Nursery Baby · 1–2 ปี N1 · 2–3 ปี N2 · 3 ปีขึ้นไป N3 (Premium ทางโรงเรียนกำหนดเอง)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จัดการบุตรหลาน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นำเด็กออก / ยกเลิกการผูก (Unlink)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2 อย่างที่ต่างกัน — เลือกให้ถูกตามสถานการณ์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✂️  ยกเลิกการผูก (Unlink)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ตัดผู้ปกครอง 1 คน ออกจากเด็ก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เด็กยังเรียนอยู่ในระบบตามปกติ (ACTIVE)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ใช้เมื่อผูกผิดคน / พ่อแม่แยกบัญชี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ทำได้เฉพาะ Admin เท่านั้น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🚪  แจ้งลาออก (Withdraw)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เด็กออกจากโรงเรียน "ทั้งระบบ"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หลุดจากรายชื่อนักเรียนที่กำลังเรียน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ใช้เมื่อเด็กลาออก/ย้ายโรงเรียนจริง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ทำได้เฉพาะ Admin เท่านั้น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718304"/>
            <a:ext cx="10479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ขั้นตอนยกเลิกการผูก (สำหรับ Admin)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5120640"/>
            <a:ext cx="10479024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 "จัดการ (Manage) → นักเรียน" แล้วกด ✏️ แก้ไข เด็กที่ต้องการ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เลื่อนลงล่างสุด กดปุ่ม 🔗 "ผู้ปกครองที่ผูก / ยกเลิกการผูก"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จะเห็นรายชื่อผู้ปกครองที่ผูกกับเด็กคนนี้ → กด ✂️ ยกเลิกผูก ข้างคนที่ต้องการ → ยืนยัน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ผู้ปกครองไม่มีปุ่มนี้ — ต้องแจ้ง Admin ให้ดำเนินการ (มีบันทึก audit log ทุกครั้ง)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รู้จักหน้าจอ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เมนูด้านบน (แถบหัว) — ไอคอนต่าง 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🍎  Atom Nursery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 📈     TH     🔔     กานต์ ▸ 👤     ออก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 / 📈</a:t>
            </a:r>
            <a:endParaRPr lang="en-US" sz="1456" dirty="0"/>
          </a:p>
        </p:txBody>
      </p:sp>
      <p:sp>
        <p:nvSpPr>
          <p:cNvPr id="9" name="Text 7"/>
          <p:cNvSpPr/>
          <p:nvPr/>
        </p:nvSpPr>
        <p:spPr>
          <a:xfrm>
            <a:off x="1298448" y="2432304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ทางลัด บันทึก / พัฒนาการ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2743200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สองปุ่มลัดของลูกคนแรก — เปิดบันทึกประจำวันและหน้าพัฒนาการได้ทันที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0E4C9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468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</a:t>
            </a:r>
            <a:endParaRPr lang="en-US" sz="1456" dirty="0"/>
          </a:p>
        </p:txBody>
      </p:sp>
      <p:sp>
        <p:nvSpPr>
          <p:cNvPr id="13" name="Text 11"/>
          <p:cNvSpPr/>
          <p:nvPr/>
        </p:nvSpPr>
        <p:spPr>
          <a:xfrm>
            <a:off x="6967728" y="2432304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สลับภาษา ไทย / อังกฤษ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67728" y="2743200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กดสลับทั้งแอปเป็นไทย↔อังกฤษ ทุกเมนูและปุ่ม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3931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393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🔔</a:t>
            </a:r>
            <a:endParaRPr lang="en-US" sz="1456" dirty="0"/>
          </a:p>
        </p:txBody>
      </p:sp>
      <p:sp>
        <p:nvSpPr>
          <p:cNvPr id="17" name="Text 15"/>
          <p:cNvSpPr/>
          <p:nvPr/>
        </p:nvSpPr>
        <p:spPr>
          <a:xfrm>
            <a:off x="1298448" y="3602736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กระดิ่งแจ้งเตือน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3913632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แจ้งเตือนในแอป (เช่น ประกาศ/สถานะคำขอ) มีตัวเลขสีแดงบอกจำนวนที่ยังไม่อ่าน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63931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6393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👤</a:t>
            </a:r>
            <a:endParaRPr lang="en-US" sz="1456" dirty="0"/>
          </a:p>
        </p:txBody>
      </p:sp>
      <p:sp>
        <p:nvSpPr>
          <p:cNvPr id="21" name="Text 19"/>
          <p:cNvSpPr/>
          <p:nvPr/>
        </p:nvSpPr>
        <p:spPr>
          <a:xfrm>
            <a:off x="6967728" y="3602736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 &amp; รูปโปรไฟล์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67728" y="3913632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แตะเพื่อเปิด "ข้อมูลของฉัน" — แก้ข้อมูลผู้ปกครอง/เด็ก และดูบุตรหลานที่ผูกไว้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0974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C2185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8097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🍎</a:t>
            </a:r>
            <a:endParaRPr lang="en-US" sz="1456" dirty="0"/>
          </a:p>
        </p:txBody>
      </p:sp>
      <p:sp>
        <p:nvSpPr>
          <p:cNvPr id="25" name="Text 23"/>
          <p:cNvSpPr/>
          <p:nvPr/>
        </p:nvSpPr>
        <p:spPr>
          <a:xfrm>
            <a:off x="1298448" y="4773168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โลโก้ (มุมซ้าย)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98448" y="5084064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แตะกลับหน้าหลักได้ทุกเมื่อ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480974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5F7185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8097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</a:t>
            </a:r>
            <a:endParaRPr lang="en-US" sz="1456" dirty="0"/>
          </a:p>
        </p:txBody>
      </p:sp>
      <p:sp>
        <p:nvSpPr>
          <p:cNvPr id="29" name="Text 27"/>
          <p:cNvSpPr/>
          <p:nvPr/>
        </p:nvSpPr>
        <p:spPr>
          <a:xfrm>
            <a:off x="6967728" y="4773168"/>
            <a:ext cx="4828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ออกจากระบบ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67728" y="5084064"/>
            <a:ext cx="4828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ลงชื่อออก (ครั้งถัดไปเข้าใหม่ผ่าน LINE)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รู้จักหน้าจอ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เมนูล่าง (แถบนำทางหลัก) — 6 เมนู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81051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1810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🏠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737360" y="181051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5786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ภาพรวมของลูก การ์ดเด็ก บันทึกวันนี้ ประกาศ ปฏิทิน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81051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810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📍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5440680" y="181051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รับ-ส่ง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25786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เช็คอิน-เอาท์ด้วย GPS + ประวัติการรับ-ส่ง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8472" y="181051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2" y="1810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💳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9144000" y="181051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ชำระเงิน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48472" y="257860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บิลรายเดือน · OT · แนบสลิป/QR/เงินสด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395935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E4C92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" y="3959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</a:t>
            </a:r>
            <a:endParaRPr lang="en-US" sz="1820" dirty="0"/>
          </a:p>
        </p:txBody>
      </p:sp>
      <p:sp>
        <p:nvSpPr>
          <p:cNvPr id="22" name="Text 20"/>
          <p:cNvSpPr/>
          <p:nvPr/>
        </p:nvSpPr>
        <p:spPr>
          <a:xfrm>
            <a:off x="1737360" y="39593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832" y="4727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บันทึกประจำวันที่ครูทำให้ (กิน-นอน-อารมณ์)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7033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395935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C2185B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3959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📈</a:t>
            </a:r>
            <a:endParaRPr lang="en-US" sz="1820" dirty="0"/>
          </a:p>
        </p:txBody>
      </p:sp>
      <p:sp>
        <p:nvSpPr>
          <p:cNvPr id="27" name="Text 25"/>
          <p:cNvSpPr/>
          <p:nvPr/>
        </p:nvSpPr>
        <p:spPr>
          <a:xfrm>
            <a:off x="5440680" y="39593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พัฒนาการ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45152" y="4727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 DSPM · กราฟการเจริญเติบโต · วัคซีน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37033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48472" y="395935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8348472" y="3959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💬</a:t>
            </a:r>
            <a:endParaRPr lang="en-US" sz="1820" dirty="0"/>
          </a:p>
        </p:txBody>
      </p:sp>
      <p:sp>
        <p:nvSpPr>
          <p:cNvPr id="32" name="Text 30"/>
          <p:cNvSpPr/>
          <p:nvPr/>
        </p:nvSpPr>
        <p:spPr>
          <a:xfrm>
            <a:off x="9144000" y="395935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48472" y="4727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คุยกับโรงเรียนผ่าน LINE OA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108960" y="5989320"/>
            <a:ext cx="5943600" cy="566928"/>
          </a:xfrm>
          <a:prstGeom prst="roundRect">
            <a:avLst>
              <a:gd name="adj" fmla="val 48387"/>
            </a:avLst>
          </a:prstGeom>
          <a:solidFill>
            <a:srgbClr val="0D2B4E"/>
          </a:solidFill>
          <a:ln/>
        </p:spPr>
      </p:sp>
      <p:sp>
        <p:nvSpPr>
          <p:cNvPr id="35" name="Text 33"/>
          <p:cNvSpPr/>
          <p:nvPr/>
        </p:nvSpPr>
        <p:spPr>
          <a:xfrm>
            <a:off x="3108960" y="598932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🏠   📍   💳   📒   📈   💬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 &amp; ป๊อปอัปประกาศ — แยกเป็นส่วน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271016"/>
            <a:ext cx="2624328" cy="5189220"/>
          </a:xfrm>
          <a:prstGeom prst="roundRect">
            <a:avLst>
              <a:gd name="adj" fmla="val 11847"/>
            </a:avLst>
          </a:prstGeom>
          <a:solidFill>
            <a:srgbClr val="0A1B33"/>
          </a:solidFill>
          <a:ln/>
          <a:effectLst>
            <a:outerShdw sx="100000" sy="100000" kx="0" ky="0" algn="bl" rotWithShape="0" blurRad="127000" dist="50800" dir="5400000">
              <a:srgbClr val="0A1B33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2514600" cy="5079492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25880"/>
            <a:ext cx="2514600" cy="694944"/>
          </a:xfrm>
          <a:prstGeom prst="roundRect">
            <a:avLst>
              <a:gd name="adj" fmla="val 39474"/>
            </a:avLst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55064"/>
            <a:ext cx="251460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380744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38074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  🔔 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0944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" y="2075688"/>
            <a:ext cx="2185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สวัสดีค่ะ คุณกานต์ 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0392" y="2441448"/>
            <a:ext cx="2185416" cy="793699"/>
          </a:xfrm>
          <a:prstGeom prst="roundRect">
            <a:avLst>
              <a:gd name="adj" fmla="val 11521"/>
            </a:avLst>
          </a:prstGeom>
          <a:solidFill>
            <a:srgbClr val="E9F1FC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51176"/>
            <a:ext cx="1892808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บีม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6696" y="2858414"/>
            <a:ext cx="1892808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🏫 Nursery 1 · 07:00–17:00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96696" y="3063240"/>
            <a:ext cx="1892808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แพ้: นมวัว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50392" y="3381451"/>
            <a:ext cx="1046988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" y="3381451"/>
            <a:ext cx="10469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🟢 ส่ง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88820" y="3381451"/>
            <a:ext cx="1046988" cy="402336"/>
          </a:xfrm>
          <a:prstGeom prst="roundRect">
            <a:avLst>
              <a:gd name="adj" fmla="val 22727"/>
            </a:avLst>
          </a:prstGeom>
          <a:solidFill>
            <a:srgbClr val="C2185B"/>
          </a:solidFill>
          <a:ln/>
        </p:spPr>
      </p:sp>
      <p:sp>
        <p:nvSpPr>
          <p:cNvPr id="19" name="Text 17"/>
          <p:cNvSpPr/>
          <p:nvPr/>
        </p:nvSpPr>
        <p:spPr>
          <a:xfrm>
            <a:off x="1988820" y="3381451"/>
            <a:ext cx="10469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🔴 รับ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0392" y="3930091"/>
            <a:ext cx="2185416" cy="582473"/>
          </a:xfrm>
          <a:prstGeom prst="roundRect">
            <a:avLst>
              <a:gd name="adj" fmla="val 15699"/>
            </a:avLst>
          </a:prstGeom>
          <a:solidFill>
            <a:srgbClr val="F4F8FE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4039819"/>
            <a:ext cx="189280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 บันทึกของ บีม วันนี้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6696" y="4270248"/>
            <a:ext cx="1892808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⏳ รอคุณครูส่งข้อมูล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50392" y="4658868"/>
            <a:ext cx="2185416" cy="428854"/>
          </a:xfrm>
          <a:prstGeom prst="roundRect">
            <a:avLst>
              <a:gd name="adj" fmla="val 21322"/>
            </a:avLst>
          </a:prstGeom>
          <a:solidFill>
            <a:srgbClr val="F4F8FE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4768596"/>
            <a:ext cx="189280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🏠 แจ้งลาบุตรหลาน  + แจ้งลา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0392" y="5234026"/>
            <a:ext cx="2185416" cy="582473"/>
          </a:xfrm>
          <a:prstGeom prst="roundRect">
            <a:avLst>
              <a:gd name="adj" fmla="val 15699"/>
            </a:avLst>
          </a:prstGeom>
          <a:solidFill>
            <a:srgbClr val="F4F8FE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" y="5343754"/>
            <a:ext cx="189280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📢 ประกาศจากโรงเรียน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6696" y="5574182"/>
            <a:ext cx="1892808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ตรวจมือเท้าปากช่วงเช้า…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03320" y="1371600"/>
            <a:ext cx="3840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5400000">
              <a:srgbClr val="99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13048" y="1481328"/>
            <a:ext cx="310896" cy="310896"/>
          </a:xfrm>
          <a:prstGeom prst="oval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3813048" y="14813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15384" y="146304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การ์ดบุตรหลาน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15384" y="1737360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ชื่อเล่นตัวใหญ่ + ชั้นเรียน + เวลาเข้า-เลิก + ประวัติแพ้ · มีปุ่ม 🟢 ส่งเข้าเรียน / 🔴 รับกลับ ในตัว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7680960" y="1371600"/>
            <a:ext cx="3840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0E4C92"/>
            </a:solidFill>
            <a:prstDash val="solid"/>
          </a:ln>
          <a:effectLst>
            <a:outerShdw sx="100000" sy="100000" kx="0" ky="0" algn="bl" rotWithShape="0" blurRad="63500" dist="25400" dir="5400000">
              <a:srgbClr val="99A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90688" y="1481328"/>
            <a:ext cx="310896" cy="310896"/>
          </a:xfrm>
          <a:prstGeom prst="oval">
            <a:avLst/>
          </a:prstGeom>
          <a:solidFill>
            <a:srgbClr val="0E4C92"/>
          </a:solidFill>
          <a:ln/>
        </p:spPr>
      </p:sp>
      <p:sp>
        <p:nvSpPr>
          <p:cNvPr id="35" name="Text 33"/>
          <p:cNvSpPr/>
          <p:nvPr/>
        </p:nvSpPr>
        <p:spPr>
          <a:xfrm>
            <a:off x="7790688" y="14813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93024" y="146304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บันทึกของวันนี้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93024" y="1737360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สรุปบันทึกประจำวันของลูก ถ้าครูยังไม่ส่งจะขึ้น "รอคุณครูส่งข้อมูล"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3703320" y="2304288"/>
            <a:ext cx="3840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5400000">
              <a:srgbClr val="99A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13048" y="2414016"/>
            <a:ext cx="310896" cy="310896"/>
          </a:xfrm>
          <a:prstGeom prst="oval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3813048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215384" y="239572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แจ้งลาบุตรหลาน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15384" y="2670048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"+ แจ้งลา" เลือกวันที่ + ประเภท (ป่วย/กิจ/พักร้อน) + เหตุผล แล้วส่งถึงครู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7680960" y="2304288"/>
            <a:ext cx="3840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C2185B"/>
            </a:solidFill>
            <a:prstDash val="solid"/>
          </a:ln>
          <a:effectLst>
            <a:outerShdw sx="100000" sy="100000" kx="0" ky="0" algn="bl" rotWithShape="0" blurRad="63500" dist="25400" dir="5400000">
              <a:srgbClr val="99A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790688" y="2414016"/>
            <a:ext cx="310896" cy="310896"/>
          </a:xfrm>
          <a:prstGeom prst="oval">
            <a:avLst/>
          </a:prstGeom>
          <a:solidFill>
            <a:srgbClr val="C2185B"/>
          </a:solidFill>
          <a:ln/>
        </p:spPr>
      </p:sp>
      <p:sp>
        <p:nvSpPr>
          <p:cNvPr id="45" name="Text 43"/>
          <p:cNvSpPr/>
          <p:nvPr/>
        </p:nvSpPr>
        <p:spPr>
          <a:xfrm>
            <a:off x="7790688" y="2414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93024" y="239572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ข้อมูลประกัน (PCHI)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93024" y="2670048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กรอกข้อมูลประกันอุบัติเหตุของลูกไว้ครั้งเดียว เผื่อกรณีฉุกเฉิน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3703320" y="3236976"/>
            <a:ext cx="3840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875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5400000">
              <a:srgbClr val="99A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13048" y="3346704"/>
            <a:ext cx="310896" cy="310896"/>
          </a:xfrm>
          <a:prstGeom prst="oval">
            <a:avLst/>
          </a:prstGeom>
          <a:solidFill>
            <a:srgbClr val="E65100"/>
          </a:solidFill>
          <a:ln/>
        </p:spPr>
      </p:sp>
      <p:sp>
        <p:nvSpPr>
          <p:cNvPr id="50" name="Text 48"/>
          <p:cNvSpPr/>
          <p:nvPr/>
        </p:nvSpPr>
        <p:spPr>
          <a:xfrm>
            <a:off x="3813048" y="3346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215384" y="3328416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 + ปฏิทิน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215384" y="3602736"/>
            <a:ext cx="3218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ข่าวจากโรงเรียน และปฏิทินแสดงวันมา-ลา-หยุด ของลูก</a:t>
            </a:r>
            <a:endParaRPr lang="en-US" sz="970" dirty="0"/>
          </a:p>
        </p:txBody>
      </p:sp>
      <p:sp>
        <p:nvSpPr>
          <p:cNvPr id="53" name="Shape 51"/>
          <p:cNvSpPr/>
          <p:nvPr/>
        </p:nvSpPr>
        <p:spPr>
          <a:xfrm>
            <a:off x="7680960" y="4169664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0D2B4E"/>
          </a:solidFill>
          <a:ln/>
        </p:spPr>
      </p:sp>
      <p:sp>
        <p:nvSpPr>
          <p:cNvPr id="54" name="Text 52"/>
          <p:cNvSpPr/>
          <p:nvPr/>
        </p:nvSpPr>
        <p:spPr>
          <a:xfrm>
            <a:off x="7863840" y="43159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C0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ป๊อปอัปประกาศ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863840" y="466344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เมื่อเปิดแอป ประกาศสำคัญจะ "เด้งขึ้นกลางจอ" ก่อน ให้อ่านแล้วปิด เพื่อไม่ให้พลาดข่าวเร่งด่วน เช่น การระบาดของโรค หรือวันหยุด — ประกาศทั้งหมดยังดูซ้ำได้ที่การ์ด "ประกาศจากโรงเรียน" ด้านล่าง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ประกาศจากโรงเรียน — แต่ละแบบหมายถึงอะไร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63624"/>
            <a:ext cx="4855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🔔 ประเภทของประกาศ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485546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Pop-up (เด้งกลางจอ): เรื่องสำคัญ/เร่งด่วน อยากให้เห็นทันทีที่เปิดแอป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ประกาศทั่วไป: แสดงในการ์ด "ประกาศจากโรงเรียน" ให้เลื่อนอ่านย้อนหลังได้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ระดับความสำคัญ ⭐ สูง: เน้นสีส้ม อยู่บนสุด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แต่ละประกาศมี ช่วงวันที่เริ่ม–สิ้นสุด ที่แสดง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1928" y="1563624"/>
            <a:ext cx="5038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 ในประกาศมีอะไรบ้าง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81928" y="1965960"/>
            <a:ext cx="5038344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 + เนื้อหา (ไทย/อังกฤษ)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รูปภาพประกอบ (ถ้ามี)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วันที่ประกาศ และวันหมดอายุการแสดง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ตัวอย่างจริง: "เช้านี้จะตรวจเช็คอาการมือเท้าปากในเด็กช่วงเช้า…"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2148840"/>
          </a:xfrm>
          <a:prstGeom prst="roundRect">
            <a:avLst>
              <a:gd name="adj" fmla="val 510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ตัวอย่างประกาศจริงในระบบ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"ได้รับแจ้งจากผู้ปกครองเมื่อวานว่ามีเด็กป่วยจากเนอสเซอรี่ 1 เป็นมือเท้าปาก จำนวน 4 ท่าน กรุณาสังเกตอาการบุตรหลานของท่าน หากมีไข้ ผื่น หรือแผลในปาก โปรดพาไปพบแพทย์"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55321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👉 ประกาศแบบนี้จะตั้งเป็น Pop-up เพื่อให้ผู้ปกครองเห็นทันทีที่เปิดแอป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รับ-ส่งเด็ก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รับ-ส่งเด็ก (GPS) — วิธีใช้และรายละเอียด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316736"/>
            <a:ext cx="2487168" cy="4912157"/>
          </a:xfrm>
          <a:prstGeom prst="roundRect">
            <a:avLst>
              <a:gd name="adj" fmla="val 12500"/>
            </a:avLst>
          </a:prstGeom>
          <a:solidFill>
            <a:srgbClr val="0A1B33"/>
          </a:solidFill>
          <a:ln/>
          <a:effectLst>
            <a:outerShdw sx="100000" sy="100000" kx="0" ky="0" algn="bl" rotWithShape="0" blurRad="127000" dist="50800" dir="5400000">
              <a:srgbClr val="0A1B33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2377440" cy="4802429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71600"/>
            <a:ext cx="2377440" cy="694944"/>
          </a:xfrm>
          <a:prstGeom prst="roundRect">
            <a:avLst>
              <a:gd name="adj" fmla="val 39474"/>
            </a:avLst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00784"/>
            <a:ext cx="237744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42646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42646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  🔔 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5863133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หน้ารับ-ส่ง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" y="2121408"/>
            <a:ext cx="2048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📍 รับ-ส่งเด็ก (GPS)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0392" y="2487168"/>
            <a:ext cx="204825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" y="248716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🟢 ส่งเข้าเรียน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0392" y="3035808"/>
            <a:ext cx="2048256" cy="402336"/>
          </a:xfrm>
          <a:prstGeom prst="roundRect">
            <a:avLst>
              <a:gd name="adj" fmla="val 22727"/>
            </a:avLst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3035808"/>
            <a:ext cx="2048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🔴 รับกลับ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0392" y="3584448"/>
            <a:ext cx="2048256" cy="592074"/>
          </a:xfrm>
          <a:prstGeom prst="roundRect">
            <a:avLst>
              <a:gd name="adj" fmla="val 15444"/>
            </a:avLst>
          </a:prstGeom>
          <a:solidFill>
            <a:srgbClr val="FFF3E0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694176"/>
            <a:ext cx="175564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ต้องอยู่ในรัศมี 50 ม.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6696" y="3924605"/>
            <a:ext cx="175564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จากโรงเรียน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50392" y="4322826"/>
            <a:ext cx="2048256" cy="755294"/>
          </a:xfrm>
          <a:prstGeom prst="roundRect">
            <a:avLst>
              <a:gd name="adj" fmla="val 12107"/>
            </a:avLst>
          </a:prstGeom>
          <a:solidFill>
            <a:srgbClr val="F4F8FE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4432554"/>
            <a:ext cx="175564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🗓️ ประวัติการรับ-ส่ง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6696" y="4662983"/>
            <a:ext cx="175564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05-06  ↓08:00 ↑17:35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96696" y="4880610"/>
            <a:ext cx="175564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04-06  ↓07:48 ↑16:50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83280" y="13716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1517904"/>
            <a:ext cx="3575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ขั้นตอนใช้งาน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84448" y="1920240"/>
            <a:ext cx="357530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เปิดจากการ์ดลูกในหน้าหลัก หรือเมนู 📍 รับ-ส่ง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อยู่ในบริเวณโรงเรียน (ในรัศมีที่ตั้งไว้ เช่น 50 ม.)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🟢 ส่งเข้าเรียน ตอนมาส่ง / 🔴 รับกลับ ตอนมารับ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อนุญาตให้แอปเข้าถึงตำแหน่ง (GPS) เมื่อระบบถาม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0" y="13716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E6F4E7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1517904"/>
            <a:ext cx="3621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ระบบทำอะไรให้อัตโนมัติ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99248" y="1920240"/>
            <a:ext cx="3621024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บันทึกเวลาเข้า/ออกจริง พร้อมตรวจว่าอยู่ในรัศมีโรงเรียน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แจ้งเตือนคุณครูประจำชั้นทันทีที่ส่ง/รับ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กันกดซ้ำ: ถ้ากดซ้ำในเวลาใกล้กัน ระบบใช้เวลาล่าสุดให้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3977640"/>
            <a:ext cx="8138160" cy="2148840"/>
          </a:xfrm>
          <a:prstGeom prst="roundRect">
            <a:avLst>
              <a:gd name="adj" fmla="val 5106"/>
            </a:avLst>
          </a:prstGeom>
          <a:solidFill>
            <a:srgbClr val="FFF3E0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4160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 รับช้า = เกิดค่า OT อัตโนมัติ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11880" y="4617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ถ้ากด "รับกลับ" หลังเวลาเลิกเรียนของลูก (เกินช่วงผ่อนผัน) ระบบจะคิดค่าล่วงเวลา (OT) ให้ทันที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คิดตาม "เวลาเลิกเรียนจริงของลูกแต่ละคน" (เช่น 17:00 หรือ 18:00) ไม่เหมารวมทุกคน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จะมีป๊อปอัป QR ให้ชำระ และยอดจะไปแสดงที่เมนู 💳 ชำระเงิน → OT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ชำระเงิน (1/3)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ชำระเงิน — บิลรายเดือน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316736"/>
            <a:ext cx="2578608" cy="5096866"/>
          </a:xfrm>
          <a:prstGeom prst="roundRect">
            <a:avLst>
              <a:gd name="adj" fmla="val 12057"/>
            </a:avLst>
          </a:prstGeom>
          <a:solidFill>
            <a:srgbClr val="0A1B33"/>
          </a:solidFill>
          <a:ln/>
          <a:effectLst>
            <a:outerShdw sx="100000" sy="100000" kx="0" ky="0" algn="bl" rotWithShape="0" blurRad="127000" dist="50800" dir="5400000">
              <a:srgbClr val="0A1B33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2468880" cy="49871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71600"/>
            <a:ext cx="2468880" cy="694944"/>
          </a:xfrm>
          <a:prstGeom prst="roundRect">
            <a:avLst>
              <a:gd name="adj" fmla="val 39474"/>
            </a:avLst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00784"/>
            <a:ext cx="246888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42646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42646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  🔔 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04784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หน้าชำระเงิน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" y="212140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💳 การชำระเงิน · บีม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0392" y="2487168"/>
            <a:ext cx="2139696" cy="1264158"/>
          </a:xfrm>
          <a:prstGeom prst="roundRect">
            <a:avLst>
              <a:gd name="adj" fmla="val 7233"/>
            </a:avLst>
          </a:prstGeom>
          <a:solidFill>
            <a:srgbClr val="E9F1FC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96896"/>
            <a:ext cx="184708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งวด 2026-06  ค้างชำระ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6696" y="2827325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ค่าเทอม            8,000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96696" y="3044952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ค่าอาหาร          1,500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96696" y="3262579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ค่ากิจกรรม          500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96696" y="3480206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ยกมา            200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96696" y="3697834"/>
            <a:ext cx="1847088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             10,800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0392" y="3897630"/>
            <a:ext cx="652272" cy="402336"/>
          </a:xfrm>
          <a:prstGeom prst="roundRect">
            <a:avLst>
              <a:gd name="adj" fmla="val 22727"/>
            </a:avLst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" y="3897630"/>
            <a:ext cx="652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📲 QR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594104" y="3897630"/>
            <a:ext cx="652272" cy="402336"/>
          </a:xfrm>
          <a:prstGeom prst="roundRect">
            <a:avLst>
              <a:gd name="adj" fmla="val 22727"/>
            </a:avLst>
          </a:prstGeom>
          <a:solidFill>
            <a:srgbClr val="0E4C92"/>
          </a:solidFill>
          <a:ln/>
        </p:spPr>
      </p:sp>
      <p:sp>
        <p:nvSpPr>
          <p:cNvPr id="22" name="Text 20"/>
          <p:cNvSpPr/>
          <p:nvPr/>
        </p:nvSpPr>
        <p:spPr>
          <a:xfrm>
            <a:off x="1594104" y="3897630"/>
            <a:ext cx="652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📎 สลิป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37816" y="3897630"/>
            <a:ext cx="652272" cy="402336"/>
          </a:xfrm>
          <a:prstGeom prst="roundRect">
            <a:avLst>
              <a:gd name="adj" fmla="val 22727"/>
            </a:avLst>
          </a:prstGeom>
          <a:solidFill>
            <a:srgbClr val="5F7185"/>
          </a:solidFill>
          <a:ln/>
        </p:spPr>
      </p:sp>
      <p:sp>
        <p:nvSpPr>
          <p:cNvPr id="24" name="Text 22"/>
          <p:cNvSpPr/>
          <p:nvPr/>
        </p:nvSpPr>
        <p:spPr>
          <a:xfrm>
            <a:off x="2337816" y="3897630"/>
            <a:ext cx="6522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💵 สด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0392" y="4446270"/>
            <a:ext cx="2139696" cy="592074"/>
          </a:xfrm>
          <a:prstGeom prst="roundRect">
            <a:avLst>
              <a:gd name="adj" fmla="val 15444"/>
            </a:avLst>
          </a:prstGeom>
          <a:solidFill>
            <a:srgbClr val="E6F4E7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" y="4555998"/>
            <a:ext cx="184708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งวด 2026-05  ชำระแล้ว 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6696" y="4786427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🧾 ใบเสร็จ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137160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1517904"/>
            <a:ext cx="3575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บิลรายเดือนบอกอะไร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84448" y="1920240"/>
            <a:ext cx="357530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แยกรายการ: ค่าเทอม · ค่าอาหาร · ค่ากิจกรรม · ค่าเรียนพิเศษ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"OT ยกมา": ค่ารับช้าที่ยังไม่จ่าย จะถูกรวมเข้าบิล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ยอดรวม + วันครบกำหนดชำระ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สถานะ: ค้างชำระ / ชำระบางส่วน / รอตรวจสอบ / ชำระแล้ว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498080" y="137160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E6F4E7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1517904"/>
            <a:ext cx="3621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ชำระล่วงหน้ารับส่วนลด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99248" y="1920240"/>
            <a:ext cx="362102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"💰 จ่ายล่วงหน้า" เพื่อดูตัวเลือก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จ่ายหลายเดือนพร้อมกันได้ส่วนลด (เช่น 2/3/6/12 เดือน)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ระบบสร้างงวดที่ครอบคลุมให้อัตโนมัติ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83280" y="4114800"/>
            <a:ext cx="8138160" cy="2011680"/>
          </a:xfrm>
          <a:prstGeom prst="roundRect">
            <a:avLst>
              <a:gd name="adj" fmla="val 3636"/>
            </a:avLst>
          </a:prstGeom>
          <a:solidFill>
            <a:srgbClr val="FFF3E0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84448" y="4261104"/>
            <a:ext cx="7735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สถานะการชำระ — อ่านอย่างไร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584448" y="4663440"/>
            <a:ext cx="7735824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ค้างชำระ (แดง): ยังไม่ได้จ่าย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รอตรวจสอบ (เหลือง): แนบสลิปแล้ว รอแอดมินยืนยัน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ชำระบางส่วน: จ่ายมาแล้วบางส่วน เหลือยอดคงค้าง — แนบสลิปเพิ่มได้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ชำระแล้ว (เขียว): จ่ายครบ กดดู 🧾 ใบเสร็จ ได้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ชำระเงิน (2/3)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วิธีชำระเงิน &amp; การแนบสลิป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4592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6459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📲</a:t>
            </a:r>
            <a:endParaRPr lang="en-US" sz="1716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QR พร้อมเพย์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39572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QR → สแกนจ่ายจากแอปธนาคาร → กลับมาแนบสลิป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64592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0E4C92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6459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📎</a:t>
            </a:r>
            <a:endParaRPr lang="en-US" sz="1716" dirty="0"/>
          </a:p>
        </p:txBody>
      </p:sp>
      <p:sp>
        <p:nvSpPr>
          <p:cNvPr id="12" name="Text 10"/>
          <p:cNvSpPr/>
          <p:nvPr/>
        </p:nvSpPr>
        <p:spPr>
          <a:xfrm>
            <a:off x="534924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แนบสลิปโอน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9432" y="239572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แนบรูปสลิป ระบบตรวจยอดอัตโนมัติ (SlipOK) แล้วส่งให้แอดมินยืนยัน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64592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64592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💵</a:t>
            </a:r>
            <a:endParaRPr lang="en-US" sz="1716" dirty="0"/>
          </a:p>
        </p:txBody>
      </p:sp>
      <p:sp>
        <p:nvSpPr>
          <p:cNvPr id="17" name="Text 15"/>
          <p:cNvSpPr/>
          <p:nvPr/>
        </p:nvSpPr>
        <p:spPr>
          <a:xfrm>
            <a:off x="905256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แจ้งชำระเงินสด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02752" y="239572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แจ้งว่าจ่ายสด ครู/แอดมินยืนยันและบันทึกวันที่ให้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ขั้นตอนแนบสลิป (แนะนำ — เร็วและตรวจยอดอัตโนมัติ)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160520"/>
            <a:ext cx="457200" cy="457200"/>
          </a:xfrm>
          <a:prstGeom prst="oval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📎 แนบสลิป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1937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ที่บิลหรือรายการ OT ที่ต้องการจ่าย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27248" y="4480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383280" y="39776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66160" y="4160520"/>
            <a:ext cx="457200" cy="457200"/>
          </a:xfrm>
          <a:prstGeom prst="oval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6616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เลือกรูปสลิป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66160" y="51937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ระบบอ่าน QR/ยอดในสลิปให้อัตโนมัติ (SlipOK)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70448" y="4480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26480" y="39776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160520"/>
            <a:ext cx="457200" cy="457200"/>
          </a:xfrm>
          <a:prstGeom prst="oval">
            <a:avLst/>
          </a:prstGeom>
          <a:solidFill>
            <a:srgbClr val="1565C0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936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ตรวจยอดที่โอน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309360" y="51937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ถ้าตรงจะขึ้น ✅ ถ้าไม่ตรงเตือน ⚠️ ให้แก้ก่อนส่ง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13648" y="4480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869680" y="39776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4160520"/>
            <a:ext cx="457200" cy="457200"/>
          </a:xfrm>
          <a:prstGeom prst="oval">
            <a:avLst/>
          </a:prstGeom>
          <a:solidFill>
            <a:srgbClr val="1565C0"/>
          </a:solidFill>
          <a:ln/>
        </p:spPr>
      </p:sp>
      <p:sp>
        <p:nvSpPr>
          <p:cNvPr id="40" name="Text 38"/>
          <p:cNvSpPr/>
          <p:nvPr/>
        </p:nvSpPr>
        <p:spPr>
          <a:xfrm>
            <a:off x="90525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52560" y="4709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กดส่ง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052560" y="51937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สถานะเป็น "รอตรวจสอบ" → แอดมินยืนยัน → "ชำระแล้ว"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แนบสลิปเพิ่มได้หลายใบจนกว่าจะครบยอด (กรณีจ่ายบางส่วน)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ชำระเงิน (3/3)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นักเรียน (ค่ารับช้า)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316736"/>
            <a:ext cx="2578608" cy="5096866"/>
          </a:xfrm>
          <a:prstGeom prst="roundRect">
            <a:avLst>
              <a:gd name="adj" fmla="val 12057"/>
            </a:avLst>
          </a:prstGeom>
          <a:solidFill>
            <a:srgbClr val="0A1B33"/>
          </a:solidFill>
          <a:ln/>
          <a:effectLst>
            <a:outerShdw sx="100000" sy="100000" kx="0" ky="0" algn="bl" rotWithShape="0" blurRad="127000" dist="50800" dir="5400000">
              <a:srgbClr val="0A1B33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2468880" cy="49871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71600"/>
            <a:ext cx="2468880" cy="694944"/>
          </a:xfrm>
          <a:prstGeom prst="roundRect">
            <a:avLst>
              <a:gd name="adj" fmla="val 39474"/>
            </a:avLst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00784"/>
            <a:ext cx="246888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42646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42646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  🔔 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04784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ในหน้าชำระเงิน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" y="212140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 สรุป OT รายวัน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0392" y="2487168"/>
            <a:ext cx="2139696" cy="784098"/>
          </a:xfrm>
          <a:prstGeom prst="roundRect">
            <a:avLst>
              <a:gd name="adj" fmla="val 11662"/>
            </a:avLst>
          </a:prstGeom>
          <a:solidFill>
            <a:srgbClr val="FFF3E0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96896"/>
            <a:ext cx="184708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03-06-2026 · 18:10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6696" y="2827325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 70 นาที · 2 ชม.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96696" y="304495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200.00 บาท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0392" y="3417570"/>
            <a:ext cx="2139696" cy="793699"/>
          </a:xfrm>
          <a:prstGeom prst="roundRect">
            <a:avLst>
              <a:gd name="adj" fmla="val 11521"/>
            </a:avLst>
          </a:prstGeom>
          <a:solidFill>
            <a:srgbClr val="E9F1FC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527298"/>
            <a:ext cx="184708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 OT ค้างชำระ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6696" y="3757727"/>
            <a:ext cx="1847088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200.00 บาท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96696" y="4039362"/>
            <a:ext cx="1847088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ถ้าไม่จ่าย จะรวมกับบิลเดือน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50392" y="4357573"/>
            <a:ext cx="1024128" cy="402336"/>
          </a:xfrm>
          <a:prstGeom prst="roundRect">
            <a:avLst>
              <a:gd name="adj" fmla="val 22727"/>
            </a:avLst>
          </a:prstGeom>
          <a:solidFill>
            <a:srgbClr val="0E4C92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" y="4357573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📎 แนบสลิป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65960" y="4357573"/>
            <a:ext cx="1024128" cy="402336"/>
          </a:xfrm>
          <a:prstGeom prst="roundRect">
            <a:avLst>
              <a:gd name="adj" fmla="val 22727"/>
            </a:avLst>
          </a:prstGeom>
          <a:solidFill>
            <a:srgbClr val="5F7185"/>
          </a:solidFill>
          <a:ln/>
        </p:spPr>
      </p:sp>
      <p:sp>
        <p:nvSpPr>
          <p:cNvPr id="23" name="Text 21"/>
          <p:cNvSpPr/>
          <p:nvPr/>
        </p:nvSpPr>
        <p:spPr>
          <a:xfrm>
            <a:off x="1965960" y="4357573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💵 เงินสด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1371600"/>
            <a:ext cx="8138160" cy="1965960"/>
          </a:xfrm>
          <a:prstGeom prst="roundRect">
            <a:avLst>
              <a:gd name="adj" fmla="val 3721"/>
            </a:avLst>
          </a:prstGeom>
          <a:solidFill>
            <a:srgbClr val="FFF3E0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1517904"/>
            <a:ext cx="7735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คิดอย่างไร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84448" y="1920240"/>
            <a:ext cx="7735824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เกิดเมื่อ "รับกลับ" ช้ากว่าเวลาเลิกเรียนของลูก เกินช่วงผ่อนผัน (เช่น 21 นาที)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คิดตามเวลาเลิกจริงของลูกแต่ละคน — เด็กเลิก 18:00 จะไม่ถูกคิดจาก 17:00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คิดเป็นรายชั่วโมง (เศษปัดขึ้น) × เรตต่อชั่วโมงของโรงเรียน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83280" y="352044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666744"/>
            <a:ext cx="3575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ดูและชำระที่ไหน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84448" y="4069080"/>
            <a:ext cx="357530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💳 ชำระเงิน → หัวข้อ "สรุป OT รายวัน"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เห็นวันที่ · เวลาที่รับ · จำนวนสาย/ชั่วโมง · ยอดเงิน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"ยอด OT ค้างชำระ" รวมให้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ชำระแยกได้ด้วย 📎 แนบสลิป หรือ 💵 เงินสด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98080" y="3520440"/>
            <a:ext cx="4023360" cy="2606040"/>
          </a:xfrm>
          <a:prstGeom prst="roundRect">
            <a:avLst>
              <a:gd name="adj" fmla="val 2807"/>
            </a:avLst>
          </a:prstGeom>
          <a:solidFill>
            <a:srgbClr val="E6F4E7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3666744"/>
            <a:ext cx="3621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ถ้ายังไม่จ่าย OT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99248" y="4069080"/>
            <a:ext cx="362102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 OT ที่ค้างจะถูก "ยกไปรวม" ในบิลรายเดือนโดยอัตโนมัติ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จ่ายรวมทีเดียวกับค่าเทอมก็ได้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คุณครูที่ดูแลชั้นก็ช่วยติดตาม/แนบสลิปแทนได้ในบางกรณี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บันทึกประจำวัน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(Daily Journal) — รายละเอียด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316736"/>
            <a:ext cx="2578608" cy="5096866"/>
          </a:xfrm>
          <a:prstGeom prst="roundRect">
            <a:avLst>
              <a:gd name="adj" fmla="val 12057"/>
            </a:avLst>
          </a:prstGeom>
          <a:solidFill>
            <a:srgbClr val="0A1B33"/>
          </a:solidFill>
          <a:ln/>
          <a:effectLst>
            <a:outerShdw sx="100000" sy="100000" kx="0" ky="0" algn="bl" rotWithShape="0" blurRad="127000" dist="50800" dir="5400000">
              <a:srgbClr val="0A1B33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2468880" cy="49871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71600"/>
            <a:ext cx="2468880" cy="694944"/>
          </a:xfrm>
          <a:prstGeom prst="roundRect">
            <a:avLst>
              <a:gd name="adj" fmla="val 39474"/>
            </a:avLst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00784"/>
            <a:ext cx="246888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42646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42646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  🔔  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04784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หน้าบันทึก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" y="212140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 บันทึกประจำวัน · บีม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0392" y="2487168"/>
            <a:ext cx="2139696" cy="601675"/>
          </a:xfrm>
          <a:prstGeom prst="roundRect">
            <a:avLst>
              <a:gd name="adj" fmla="val 15198"/>
            </a:avLst>
          </a:prstGeom>
          <a:solidFill>
            <a:srgbClr val="E9F1FC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96896"/>
            <a:ext cx="184708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 21-07-2026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6696" y="2827325"/>
            <a:ext cx="1847088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⏳ รอคุณครูส่งข้อมูล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" y="3235147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ย้อนหลัง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0392" y="3600907"/>
            <a:ext cx="2139696" cy="601675"/>
          </a:xfrm>
          <a:prstGeom prst="roundRect">
            <a:avLst>
              <a:gd name="adj" fmla="val 15198"/>
            </a:avLst>
          </a:prstGeom>
          <a:solidFill>
            <a:srgbClr val="F4F8FE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710635"/>
            <a:ext cx="1847088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08-06  😀 Happy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96696" y="3953866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แตะ "ดู" เพื่อเปิดรายละเอียด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83280" y="1371600"/>
            <a:ext cx="8138160" cy="2148840"/>
          </a:xfrm>
          <a:prstGeom prst="roundRect">
            <a:avLst>
              <a:gd name="adj" fmla="val 3404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1517904"/>
            <a:ext cx="7735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คุณครูบันทึกอะไรให้บ้าง (ทุกวัน)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84448" y="1920240"/>
            <a:ext cx="773582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อารมณ์ของเด็ก 😀 · การรับประทานอาหาร/นม · การนอนกลางวัน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การขับถ่าย · สุขภาพ/อาการที่สังเกต · กิจกรรม/ธีมการเรียนรู้ของวัน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ปริมาณนม/น้ำ และหมายเหตุอื่น ๆ ที่ครูอยากแจ้ง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3703320"/>
            <a:ext cx="3977640" cy="2423160"/>
          </a:xfrm>
          <a:prstGeom prst="roundRect">
            <a:avLst>
              <a:gd name="adj" fmla="val 3019"/>
            </a:avLst>
          </a:prstGeom>
          <a:solidFill>
            <a:srgbClr val="FFF3E0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3849624"/>
            <a:ext cx="3575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สถานะบันทึก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84448" y="4251960"/>
            <a:ext cx="3575304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⏳ รอคุณครูส่งข้อมูล: ยังไม่ส่งของวันนี้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📝 ฉบับร่าง: ครูกำลังทำ ยังไม่ส่ง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ส่งแล้ว: พร้อมเวลาที่ส่ง — อ่านได้เลย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98080" y="370332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E6F4E7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3849624"/>
            <a:ext cx="3621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ผู้ปกครองทำอะไรได้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99248" y="4251960"/>
            <a:ext cx="3621024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เปิดอ่านบันทึกของแต่ละวัน (รวมย้อนหลัง)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 "ความคิดเห็น/ข้อความถึงครู" ใต้บันทึกได้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เปิดเร็วได้จากปุ่มลัด 📒 บนแถบหัว หรือเมนูล่าง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พัฒนาการ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พัฒนาการ (DSPM) — วัดอะไร สำคัญอย่างไร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9F1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DSPM = คู่มือเฝ้าระวังและส่งเสริมพัฒนาการเด็กปฐมวัย (กรมอนามัย/กรมสุขภาพจิต) — ประเมินว่าเด็ก "ทำได้ตามวัย" หรือไม่ เพื่อส่งเสริม/ช่วยเหลือได้เร็ว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5603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GM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กล้ามเนื้อมัดใหญ่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นั่ง ยืน เดิน วิ่ง กระโดด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2423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5603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E4C92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FM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288036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กล้ามเนื้อมัดเล็ก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2608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หยิบจับ ขีดเขียน ใช้มือ-นิ้ว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2423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25603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RL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507492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ภาษา (เข้าใจ)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2064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ฟังเข้าใจ ทำตามคำสั่ง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2423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9560" y="25603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65100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EL</a:t>
            </a:r>
            <a:endParaRPr lang="en-US" sz="1820" dirty="0"/>
          </a:p>
        </p:txBody>
      </p:sp>
      <p:sp>
        <p:nvSpPr>
          <p:cNvPr id="24" name="Text 22"/>
          <p:cNvSpPr/>
          <p:nvPr/>
        </p:nvSpPr>
        <p:spPr>
          <a:xfrm>
            <a:off x="726948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ภาษา (แสดงออก)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พูด บอกความต้องการ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418320" y="24231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04120" y="25603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C2185B"/>
          </a:solidFill>
          <a:ln/>
        </p:spPr>
      </p:sp>
      <p:sp>
        <p:nvSpPr>
          <p:cNvPr id="28" name="Text 26"/>
          <p:cNvSpPr/>
          <p:nvPr/>
        </p:nvSpPr>
        <p:spPr>
          <a:xfrm>
            <a:off x="1010412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PS</a:t>
            </a:r>
            <a:endParaRPr lang="en-US" sz="1820" dirty="0"/>
          </a:p>
        </p:txBody>
      </p:sp>
      <p:sp>
        <p:nvSpPr>
          <p:cNvPr id="29" name="Text 27"/>
          <p:cNvSpPr/>
          <p:nvPr/>
        </p:nvSpPr>
        <p:spPr>
          <a:xfrm>
            <a:off x="946404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ส่วนบุคคล-สังคม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509760" y="3520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ช่วยเหลือตัวเอง เล่นกับผู้อื่น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8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169664"/>
            <a:ext cx="4946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ดูอย่างไร / เห็นอะไร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" y="4572000"/>
            <a:ext cx="494690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📈 พัฒนาการ ของลูกแต่ละคน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ช่วงวัยปัจจุบัน + รายการประเมินแต่ละข้อ: ✅ ผ่าน / ❌ ไม่ผ่าน / ⏳ ยังไม่ประเมิน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กราฟการเจริญเติบโต: น้ำหนัก/ส่วนสูง เทียบ "แถบเกณฑ์ปกติตามวัย"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บันทึกวัคซีน: ติ๊กเข็มที่ได้รับ ตามตารางวัคซีนพื้นฐาน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6F4E7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69664"/>
            <a:ext cx="4946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สำคัญอย่างไร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73368" y="4572000"/>
            <a:ext cx="494690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รู้เร็วว่าลูกพัฒนาการตามวัยไหม ถ้าล่าช้าจะช่วยเหลือได้ทัน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เห็นการเติบโต (โต/ผอม/เตี้ย) เทียบเกณฑ์มาตรฐาน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ไม่พลาดวัคซีนสำคัญตามช่วงอายุ</a:t>
            </a:r>
            <a:endParaRPr lang="en-US" sz="11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พ่อแม่-ครู เห็นข้อมูลชุดเดียวกัน ส่งเสริมได้ตรงจุด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 · คู่มือผู้ปกครอง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029200" cy="5029200"/>
          </a:xfrm>
          <a:prstGeom prst="oval">
            <a:avLst/>
          </a:prstGeom>
          <a:solidFill>
            <a:srgbClr val="123A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8FC0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แชท &amp; สรุป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แชทกับโรงเรียน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540496" y="1179576"/>
            <a:ext cx="2578608" cy="5096866"/>
          </a:xfrm>
          <a:prstGeom prst="roundRect">
            <a:avLst>
              <a:gd name="adj" fmla="val 12057"/>
            </a:avLst>
          </a:prstGeom>
          <a:solidFill>
            <a:srgbClr val="0A1B33"/>
          </a:solidFill>
          <a:ln/>
          <a:effectLst>
            <a:outerShdw sx="100000" sy="100000" kx="0" ky="0" algn="bl" rotWithShape="0" blurRad="127000" dist="50800" dir="5400000">
              <a:srgbClr val="0A1B33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0" y="1234440"/>
            <a:ext cx="2468880" cy="49871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1234440"/>
            <a:ext cx="2468880" cy="694944"/>
          </a:xfrm>
          <a:prstGeom prst="roundRect">
            <a:avLst>
              <a:gd name="adj" fmla="val 39474"/>
            </a:avLst>
          </a:prstGeom>
          <a:solidFill>
            <a:srgbClr val="1565C0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1563624"/>
            <a:ext cx="246888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8796528" y="128930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46920" y="128930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  🔔  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95360" y="591068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หน้าแชท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759952" y="1984248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💬 แชทกับโรงเรียน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59952" y="2350008"/>
            <a:ext cx="2139696" cy="601675"/>
          </a:xfrm>
          <a:prstGeom prst="roundRect">
            <a:avLst>
              <a:gd name="adj" fmla="val 15198"/>
            </a:avLst>
          </a:prstGeom>
          <a:solidFill>
            <a:srgbClr val="E9F1FC"/>
          </a:solidFill>
          <a:ln w="9525">
            <a:solidFill>
              <a:srgbClr val="D6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06256" y="2459736"/>
            <a:ext cx="1847088" cy="243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คุยผ่าน LINE OA ที่เดียว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06256" y="2702966"/>
            <a:ext cx="1847088" cy="2176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18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ครูจัดการรวมศูนย์ ไม่ตกหล่น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759952" y="3097987"/>
            <a:ext cx="2139696" cy="402336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8759952" y="3097987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เปิดแชท LINE OA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1417320"/>
            <a:ext cx="7498080" cy="1371600"/>
          </a:xfrm>
          <a:prstGeom prst="roundRect">
            <a:avLst>
              <a:gd name="adj" fmla="val 8000"/>
            </a:avLst>
          </a:prstGeom>
          <a:solidFill>
            <a:srgbClr val="12386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1554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0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💬 การแชททำงานอย่างไร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196596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B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ทุกการพูดคุยทำผ่าน LINE OA ของโรงเรียน — กดปุ่ม "เปิดแชท LINE OA" แล้วระบบพาไปที่ห้องแชท LINE ของโรงเรียนโดยตรง เพื่อให้คุณครูดูแลตอบรวมที่เดียว ข้อความไม่ตกหล่น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0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สรุปเมนูหลักของผู้ปกครอง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52044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12386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5204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35204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หน้าหลัก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154680" y="352044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12386B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5204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77640" y="35204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รับ-ส่ง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0" y="352044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12386B"/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35204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💳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92240" y="35204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ชำระเงิน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57200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12386B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57200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463040" y="45720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154680" y="457200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12386B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457200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📈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977640" y="45720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พัฒนาการ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69280" y="457200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12386B"/>
          </a:solidFill>
          <a:ln/>
        </p:spPr>
      </p:sp>
      <p:sp>
        <p:nvSpPr>
          <p:cNvPr id="38" name="Text 36"/>
          <p:cNvSpPr/>
          <p:nvPr/>
        </p:nvSpPr>
        <p:spPr>
          <a:xfrm>
            <a:off x="5806440" y="457200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💬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492240" y="45720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แชท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มีคำถามการใช้งาน แตะ 💬 แชท เพื่อสอบถามโรงเรียนผ่าน LINE OA ได้ตลอด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2026-07-21T08:46:10Z</dcterms:created>
  <dcterms:modified xsi:type="dcterms:W3CDTF">2026-07-21T08:46:10Z</dcterms:modified>
</cp:coreProperties>
</file>